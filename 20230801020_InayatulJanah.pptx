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Inter Heavy" panose="020B0604020202020204" charset="0"/>
      <p:regular r:id="rId10"/>
    </p:embeddedFont>
    <p:embeddedFont>
      <p:font typeface="Inter Ultra-Bold" panose="020B0604020202020204" charset="0"/>
      <p:regular r:id="rId11"/>
    </p:embeddedFont>
    <p:embeddedFont>
      <p:font typeface="Sukar" panose="020B0604020202020204" charset="0"/>
      <p:regular r:id="rId12"/>
    </p:embeddedFont>
    <p:embeddedFont>
      <p:font typeface="Sukar Bold" panose="020B0604020202020204" charset="0"/>
      <p:regular r:id="rId13"/>
    </p:embeddedFont>
    <p:embeddedFont>
      <p:font typeface="Sukar Heavy"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1536"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993391" y="9374487"/>
            <a:ext cx="10131768" cy="1522495"/>
            <a:chOff x="0" y="0"/>
            <a:chExt cx="852641" cy="128126"/>
          </a:xfrm>
        </p:grpSpPr>
        <p:sp>
          <p:nvSpPr>
            <p:cNvPr id="9" name="Freeform 9"/>
            <p:cNvSpPr/>
            <p:nvPr/>
          </p:nvSpPr>
          <p:spPr>
            <a:xfrm>
              <a:off x="0" y="0"/>
              <a:ext cx="852641" cy="128126"/>
            </a:xfrm>
            <a:custGeom>
              <a:avLst/>
              <a:gdLst/>
              <a:ahLst/>
              <a:cxnLst/>
              <a:rect l="l" t="t" r="r" b="b"/>
              <a:pathLst>
                <a:path w="852641" h="128126">
                  <a:moveTo>
                    <a:pt x="649441" y="0"/>
                  </a:moveTo>
                  <a:lnTo>
                    <a:pt x="0" y="0"/>
                  </a:lnTo>
                  <a:lnTo>
                    <a:pt x="203200" y="128126"/>
                  </a:lnTo>
                  <a:lnTo>
                    <a:pt x="852641" y="128126"/>
                  </a:lnTo>
                  <a:lnTo>
                    <a:pt x="649441" y="0"/>
                  </a:lnTo>
                  <a:close/>
                </a:path>
              </a:pathLst>
            </a:custGeom>
            <a:solidFill>
              <a:srgbClr val="F5AB0B"/>
            </a:solidFill>
          </p:spPr>
        </p:sp>
        <p:sp>
          <p:nvSpPr>
            <p:cNvPr id="10" name="TextBox 10"/>
            <p:cNvSpPr txBox="1"/>
            <p:nvPr/>
          </p:nvSpPr>
          <p:spPr>
            <a:xfrm>
              <a:off x="101600" y="-38100"/>
              <a:ext cx="649441" cy="16622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939656" y="9367336"/>
            <a:ext cx="5343123" cy="761247"/>
            <a:chOff x="0" y="0"/>
            <a:chExt cx="1219374" cy="173727"/>
          </a:xfrm>
        </p:grpSpPr>
        <p:sp>
          <p:nvSpPr>
            <p:cNvPr id="12" name="Freeform 12"/>
            <p:cNvSpPr/>
            <p:nvPr/>
          </p:nvSpPr>
          <p:spPr>
            <a:xfrm>
              <a:off x="0" y="0"/>
              <a:ext cx="1219374" cy="173727"/>
            </a:xfrm>
            <a:custGeom>
              <a:avLst/>
              <a:gdLst/>
              <a:ahLst/>
              <a:cxnLst/>
              <a:rect l="l" t="t" r="r" b="b"/>
              <a:pathLst>
                <a:path w="1219374" h="173727">
                  <a:moveTo>
                    <a:pt x="1016174" y="0"/>
                  </a:moveTo>
                  <a:lnTo>
                    <a:pt x="0" y="0"/>
                  </a:lnTo>
                  <a:lnTo>
                    <a:pt x="203200" y="173727"/>
                  </a:lnTo>
                  <a:lnTo>
                    <a:pt x="1219374" y="173727"/>
                  </a:lnTo>
                  <a:lnTo>
                    <a:pt x="1016174" y="0"/>
                  </a:lnTo>
                  <a:close/>
                </a:path>
              </a:pathLst>
            </a:custGeom>
            <a:solidFill>
              <a:srgbClr val="002C4F"/>
            </a:solidFill>
          </p:spPr>
        </p:sp>
        <p:sp>
          <p:nvSpPr>
            <p:cNvPr id="13" name="TextBox 13"/>
            <p:cNvSpPr txBox="1"/>
            <p:nvPr/>
          </p:nvSpPr>
          <p:spPr>
            <a:xfrm>
              <a:off x="101600" y="-38100"/>
              <a:ext cx="1016174" cy="21182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649855" y="9575641"/>
            <a:ext cx="14144497" cy="1340390"/>
            <a:chOff x="0" y="0"/>
            <a:chExt cx="1527407" cy="144743"/>
          </a:xfrm>
        </p:grpSpPr>
        <p:sp>
          <p:nvSpPr>
            <p:cNvPr id="15" name="Freeform 15"/>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6" name="TextBox 16"/>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366617" y="8947666"/>
            <a:ext cx="13622175" cy="853642"/>
            <a:chOff x="0" y="0"/>
            <a:chExt cx="3145382" cy="197107"/>
          </a:xfrm>
        </p:grpSpPr>
        <p:sp>
          <p:nvSpPr>
            <p:cNvPr id="18" name="Freeform 18"/>
            <p:cNvSpPr/>
            <p:nvPr/>
          </p:nvSpPr>
          <p:spPr>
            <a:xfrm>
              <a:off x="0" y="0"/>
              <a:ext cx="3145382" cy="197107"/>
            </a:xfrm>
            <a:custGeom>
              <a:avLst/>
              <a:gdLst/>
              <a:ahLst/>
              <a:cxnLst/>
              <a:rect l="l" t="t" r="r" b="b"/>
              <a:pathLst>
                <a:path w="3145382" h="197107">
                  <a:moveTo>
                    <a:pt x="2942182" y="0"/>
                  </a:moveTo>
                  <a:lnTo>
                    <a:pt x="0" y="0"/>
                  </a:lnTo>
                  <a:lnTo>
                    <a:pt x="203200" y="197107"/>
                  </a:lnTo>
                  <a:lnTo>
                    <a:pt x="3145382" y="197107"/>
                  </a:lnTo>
                  <a:lnTo>
                    <a:pt x="2942182" y="0"/>
                  </a:lnTo>
                  <a:close/>
                </a:path>
              </a:pathLst>
            </a:custGeom>
            <a:solidFill>
              <a:srgbClr val="000000">
                <a:alpha val="0"/>
              </a:srgbClr>
            </a:solidFill>
            <a:ln w="38100" cap="sq">
              <a:solidFill>
                <a:srgbClr val="002C4F"/>
              </a:solidFill>
              <a:prstDash val="solid"/>
              <a:miter/>
            </a:ln>
          </p:spPr>
        </p:sp>
        <p:sp>
          <p:nvSpPr>
            <p:cNvPr id="19" name="TextBox 19"/>
            <p:cNvSpPr txBox="1"/>
            <p:nvPr/>
          </p:nvSpPr>
          <p:spPr>
            <a:xfrm>
              <a:off x="101600" y="-38100"/>
              <a:ext cx="2942182" cy="235207"/>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475857" y="2400723"/>
            <a:ext cx="10701847" cy="5786753"/>
            <a:chOff x="0" y="0"/>
            <a:chExt cx="1657996" cy="896519"/>
          </a:xfrm>
        </p:grpSpPr>
        <p:sp>
          <p:nvSpPr>
            <p:cNvPr id="21" name="Freeform 21"/>
            <p:cNvSpPr/>
            <p:nvPr/>
          </p:nvSpPr>
          <p:spPr>
            <a:xfrm>
              <a:off x="0" y="0"/>
              <a:ext cx="1657996" cy="896519"/>
            </a:xfrm>
            <a:custGeom>
              <a:avLst/>
              <a:gdLst/>
              <a:ahLst/>
              <a:cxnLst/>
              <a:rect l="l" t="t" r="r" b="b"/>
              <a:pathLst>
                <a:path w="1657996" h="896519">
                  <a:moveTo>
                    <a:pt x="18085" y="0"/>
                  </a:moveTo>
                  <a:lnTo>
                    <a:pt x="1639911" y="0"/>
                  </a:lnTo>
                  <a:cubicBezTo>
                    <a:pt x="1649899" y="0"/>
                    <a:pt x="1657996" y="8097"/>
                    <a:pt x="1657996" y="18085"/>
                  </a:cubicBezTo>
                  <a:lnTo>
                    <a:pt x="1657996" y="878434"/>
                  </a:lnTo>
                  <a:cubicBezTo>
                    <a:pt x="1657996" y="888422"/>
                    <a:pt x="1649899" y="896519"/>
                    <a:pt x="1639911" y="896519"/>
                  </a:cubicBezTo>
                  <a:lnTo>
                    <a:pt x="18085" y="896519"/>
                  </a:lnTo>
                  <a:cubicBezTo>
                    <a:pt x="13289" y="896519"/>
                    <a:pt x="8689" y="894614"/>
                    <a:pt x="5297" y="891222"/>
                  </a:cubicBezTo>
                  <a:cubicBezTo>
                    <a:pt x="1905" y="887831"/>
                    <a:pt x="0" y="883230"/>
                    <a:pt x="0" y="878434"/>
                  </a:cubicBezTo>
                  <a:lnTo>
                    <a:pt x="0" y="18085"/>
                  </a:lnTo>
                  <a:cubicBezTo>
                    <a:pt x="0" y="8097"/>
                    <a:pt x="8097" y="0"/>
                    <a:pt x="18085" y="0"/>
                  </a:cubicBezTo>
                  <a:close/>
                </a:path>
              </a:pathLst>
            </a:custGeom>
            <a:blipFill>
              <a:blip r:embed="rId2"/>
              <a:stretch>
                <a:fillRect t="-2013" b="-2013"/>
              </a:stretch>
            </a:blipFill>
          </p:spPr>
        </p:sp>
      </p:grpSp>
      <p:grpSp>
        <p:nvGrpSpPr>
          <p:cNvPr id="22" name="Group 22"/>
          <p:cNvGrpSpPr/>
          <p:nvPr/>
        </p:nvGrpSpPr>
        <p:grpSpPr>
          <a:xfrm rot="2589027">
            <a:off x="15814155" y="-868118"/>
            <a:ext cx="4947690" cy="3086100"/>
            <a:chOff x="0" y="0"/>
            <a:chExt cx="1303095" cy="812800"/>
          </a:xfrm>
        </p:grpSpPr>
        <p:sp>
          <p:nvSpPr>
            <p:cNvPr id="23" name="Freeform 2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24" name="TextBox 2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2818405" y="-292640"/>
            <a:ext cx="14144497" cy="1340390"/>
            <a:chOff x="0" y="0"/>
            <a:chExt cx="1527407" cy="144743"/>
          </a:xfrm>
        </p:grpSpPr>
        <p:sp>
          <p:nvSpPr>
            <p:cNvPr id="26" name="Freeform 26"/>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F5AB0B"/>
            </a:solidFill>
          </p:spPr>
        </p:sp>
        <p:sp>
          <p:nvSpPr>
            <p:cNvPr id="27" name="TextBox 27"/>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8780485" y="187815"/>
            <a:ext cx="5343123" cy="707535"/>
            <a:chOff x="0" y="0"/>
            <a:chExt cx="1219374" cy="161469"/>
          </a:xfrm>
        </p:grpSpPr>
        <p:sp>
          <p:nvSpPr>
            <p:cNvPr id="29" name="Freeform 29"/>
            <p:cNvSpPr/>
            <p:nvPr/>
          </p:nvSpPr>
          <p:spPr>
            <a:xfrm>
              <a:off x="0" y="0"/>
              <a:ext cx="1219374" cy="161469"/>
            </a:xfrm>
            <a:custGeom>
              <a:avLst/>
              <a:gdLst/>
              <a:ahLst/>
              <a:cxnLst/>
              <a:rect l="l" t="t" r="r" b="b"/>
              <a:pathLst>
                <a:path w="1219374" h="161469">
                  <a:moveTo>
                    <a:pt x="1016174" y="0"/>
                  </a:moveTo>
                  <a:lnTo>
                    <a:pt x="0" y="0"/>
                  </a:lnTo>
                  <a:lnTo>
                    <a:pt x="203200" y="161469"/>
                  </a:lnTo>
                  <a:lnTo>
                    <a:pt x="1219374" y="161469"/>
                  </a:lnTo>
                  <a:lnTo>
                    <a:pt x="1016174" y="0"/>
                  </a:lnTo>
                  <a:close/>
                </a:path>
              </a:pathLst>
            </a:custGeom>
            <a:solidFill>
              <a:srgbClr val="002C4F"/>
            </a:solidFill>
          </p:spPr>
        </p:sp>
        <p:sp>
          <p:nvSpPr>
            <p:cNvPr id="30" name="TextBox 30"/>
            <p:cNvSpPr txBox="1"/>
            <p:nvPr/>
          </p:nvSpPr>
          <p:spPr>
            <a:xfrm>
              <a:off x="101600" y="-38100"/>
              <a:ext cx="1016174" cy="199569"/>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3044319" y="-670195"/>
            <a:ext cx="14144497" cy="1340390"/>
            <a:chOff x="0" y="0"/>
            <a:chExt cx="1527407" cy="144743"/>
          </a:xfrm>
        </p:grpSpPr>
        <p:sp>
          <p:nvSpPr>
            <p:cNvPr id="32" name="Freeform 32"/>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33" name="TextBox 33"/>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a:off x="7485117" y="1235223"/>
            <a:ext cx="976801" cy="976801"/>
          </a:xfrm>
          <a:custGeom>
            <a:avLst/>
            <a:gdLst/>
            <a:ahLst/>
            <a:cxnLst/>
            <a:rect l="l" t="t" r="r" b="b"/>
            <a:pathLst>
              <a:path w="976801" h="976801">
                <a:moveTo>
                  <a:pt x="0" y="0"/>
                </a:moveTo>
                <a:lnTo>
                  <a:pt x="976801" y="0"/>
                </a:lnTo>
                <a:lnTo>
                  <a:pt x="976801" y="976801"/>
                </a:lnTo>
                <a:lnTo>
                  <a:pt x="0" y="9768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5" name="Freeform 35"/>
          <p:cNvSpPr/>
          <p:nvPr/>
        </p:nvSpPr>
        <p:spPr>
          <a:xfrm>
            <a:off x="6897518" y="7792287"/>
            <a:ext cx="1194249" cy="395188"/>
          </a:xfrm>
          <a:custGeom>
            <a:avLst/>
            <a:gdLst/>
            <a:ahLst/>
            <a:cxnLst/>
            <a:rect l="l" t="t" r="r" b="b"/>
            <a:pathLst>
              <a:path w="1194249" h="395188">
                <a:moveTo>
                  <a:pt x="0" y="0"/>
                </a:moveTo>
                <a:lnTo>
                  <a:pt x="1194249" y="0"/>
                </a:lnTo>
                <a:lnTo>
                  <a:pt x="1194249" y="395188"/>
                </a:lnTo>
                <a:lnTo>
                  <a:pt x="0" y="3951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TextBox 36"/>
          <p:cNvSpPr txBox="1"/>
          <p:nvPr/>
        </p:nvSpPr>
        <p:spPr>
          <a:xfrm>
            <a:off x="1543095" y="3016829"/>
            <a:ext cx="6944818" cy="1925043"/>
          </a:xfrm>
          <a:prstGeom prst="rect">
            <a:avLst/>
          </a:prstGeom>
        </p:spPr>
        <p:txBody>
          <a:bodyPr lIns="0" tIns="0" rIns="0" bIns="0" rtlCol="0" anchor="t">
            <a:spAutoFit/>
          </a:bodyPr>
          <a:lstStyle/>
          <a:p>
            <a:pPr algn="just">
              <a:lnSpc>
                <a:spcPts val="3789"/>
              </a:lnSpc>
            </a:pPr>
            <a:r>
              <a:rPr lang="en-US" sz="3789" b="1">
                <a:solidFill>
                  <a:srgbClr val="002C4F"/>
                </a:solidFill>
                <a:latin typeface="Inter Heavy"/>
                <a:ea typeface="Inter Heavy"/>
                <a:cs typeface="Inter Heavy"/>
                <a:sym typeface="Inter Heavy"/>
              </a:rPr>
              <a:t>STUDI LITERATUR: ANALISIS PERFORMA ALGORITMA SHA-3 (KECCAK) DALAM PROSES HASHING DATA</a:t>
            </a:r>
          </a:p>
        </p:txBody>
      </p:sp>
      <p:sp>
        <p:nvSpPr>
          <p:cNvPr id="37" name="TextBox 37"/>
          <p:cNvSpPr txBox="1"/>
          <p:nvPr/>
        </p:nvSpPr>
        <p:spPr>
          <a:xfrm>
            <a:off x="1543095" y="7747906"/>
            <a:ext cx="8694903" cy="439569"/>
          </a:xfrm>
          <a:prstGeom prst="rect">
            <a:avLst/>
          </a:prstGeom>
        </p:spPr>
        <p:txBody>
          <a:bodyPr lIns="0" tIns="0" rIns="0" bIns="0" rtlCol="0" anchor="t">
            <a:spAutoFit/>
          </a:bodyPr>
          <a:lstStyle/>
          <a:p>
            <a:pPr algn="l">
              <a:lnSpc>
                <a:spcPts val="3422"/>
              </a:lnSpc>
            </a:pPr>
            <a:r>
              <a:rPr lang="en-US" sz="3111" b="1">
                <a:solidFill>
                  <a:srgbClr val="002C4F"/>
                </a:solidFill>
                <a:latin typeface="Sukar Bold"/>
                <a:ea typeface="Sukar Bold"/>
                <a:cs typeface="Sukar Bold"/>
                <a:sym typeface="Sukar Bold"/>
              </a:rPr>
              <a:t>Inayatul Janah - 20230801020</a:t>
            </a:r>
          </a:p>
        </p:txBody>
      </p:sp>
      <p:sp>
        <p:nvSpPr>
          <p:cNvPr id="38" name="TextBox 38"/>
          <p:cNvSpPr txBox="1"/>
          <p:nvPr/>
        </p:nvSpPr>
        <p:spPr>
          <a:xfrm>
            <a:off x="1028700" y="1471623"/>
            <a:ext cx="6574747" cy="459835"/>
          </a:xfrm>
          <a:prstGeom prst="rect">
            <a:avLst/>
          </a:prstGeom>
        </p:spPr>
        <p:txBody>
          <a:bodyPr lIns="0" tIns="0" rIns="0" bIns="0" rtlCol="0" anchor="t">
            <a:spAutoFit/>
          </a:bodyPr>
          <a:lstStyle/>
          <a:p>
            <a:pPr algn="l">
              <a:lnSpc>
                <a:spcPts val="3528"/>
              </a:lnSpc>
            </a:pPr>
            <a:r>
              <a:rPr lang="en-US" sz="3207" b="1">
                <a:solidFill>
                  <a:srgbClr val="002C4F"/>
                </a:solidFill>
                <a:latin typeface="Sukar Heavy"/>
                <a:ea typeface="Sukar Heavy"/>
                <a:cs typeface="Sukar Heavy"/>
                <a:sym typeface="Sukar Heavy"/>
              </a:rPr>
              <a:t>UNIVERSITAS ESA UNGGUL</a:t>
            </a:r>
          </a:p>
        </p:txBody>
      </p:sp>
      <p:sp>
        <p:nvSpPr>
          <p:cNvPr id="39" name="TextBox 39"/>
          <p:cNvSpPr txBox="1"/>
          <p:nvPr/>
        </p:nvSpPr>
        <p:spPr>
          <a:xfrm>
            <a:off x="1543095" y="5322674"/>
            <a:ext cx="7237391" cy="1061594"/>
          </a:xfrm>
          <a:prstGeom prst="rect">
            <a:avLst/>
          </a:prstGeom>
        </p:spPr>
        <p:txBody>
          <a:bodyPr lIns="0" tIns="0" rIns="0" bIns="0" rtlCol="0" anchor="t">
            <a:spAutoFit/>
          </a:bodyPr>
          <a:lstStyle/>
          <a:p>
            <a:pPr algn="just">
              <a:lnSpc>
                <a:spcPts val="2849"/>
              </a:lnSpc>
            </a:pPr>
            <a:r>
              <a:rPr lang="en-US" sz="2590" b="1">
                <a:solidFill>
                  <a:srgbClr val="002C4F"/>
                </a:solidFill>
                <a:latin typeface="Sukar Bold"/>
                <a:ea typeface="Sukar Bold"/>
                <a:cs typeface="Sukar Bold"/>
                <a:sym typeface="Sukar Bold"/>
              </a:rPr>
              <a:t>Ide : Analisis Performa Implementasi Algoritma SHA-3 (Keccak) pada FPGA untuk Optimasi Throughput dan Efisiensi Area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4837">
        <p159:morph option="byObject"/>
      </p:transition>
    </mc:Choice>
    <mc:Fallback xmlns="">
      <p:transition spd="slow" advTm="24837">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838319" y="2261456"/>
            <a:ext cx="4823132" cy="5764088"/>
            <a:chOff x="0" y="0"/>
            <a:chExt cx="747229" cy="893008"/>
          </a:xfrm>
        </p:grpSpPr>
        <p:sp>
          <p:nvSpPr>
            <p:cNvPr id="6" name="Freeform 6"/>
            <p:cNvSpPr/>
            <p:nvPr/>
          </p:nvSpPr>
          <p:spPr>
            <a:xfrm>
              <a:off x="0" y="0"/>
              <a:ext cx="747229" cy="893008"/>
            </a:xfrm>
            <a:custGeom>
              <a:avLst/>
              <a:gdLst/>
              <a:ahLst/>
              <a:cxnLst/>
              <a:rect l="l" t="t" r="r" b="b"/>
              <a:pathLst>
                <a:path w="747229" h="893008">
                  <a:moveTo>
                    <a:pt x="40129" y="0"/>
                  </a:moveTo>
                  <a:lnTo>
                    <a:pt x="707100" y="0"/>
                  </a:lnTo>
                  <a:cubicBezTo>
                    <a:pt x="729263" y="0"/>
                    <a:pt x="747229" y="17966"/>
                    <a:pt x="747229" y="40129"/>
                  </a:cubicBezTo>
                  <a:lnTo>
                    <a:pt x="747229" y="852879"/>
                  </a:lnTo>
                  <a:cubicBezTo>
                    <a:pt x="747229" y="863522"/>
                    <a:pt x="743002" y="873729"/>
                    <a:pt x="735476" y="881255"/>
                  </a:cubicBezTo>
                  <a:cubicBezTo>
                    <a:pt x="727950" y="888780"/>
                    <a:pt x="717743" y="893008"/>
                    <a:pt x="707100" y="893008"/>
                  </a:cubicBezTo>
                  <a:lnTo>
                    <a:pt x="40129" y="893008"/>
                  </a:lnTo>
                  <a:cubicBezTo>
                    <a:pt x="29486" y="893008"/>
                    <a:pt x="19279" y="888780"/>
                    <a:pt x="11754" y="881255"/>
                  </a:cubicBezTo>
                  <a:cubicBezTo>
                    <a:pt x="4228" y="873729"/>
                    <a:pt x="0" y="863522"/>
                    <a:pt x="0" y="852879"/>
                  </a:cubicBezTo>
                  <a:lnTo>
                    <a:pt x="0" y="40129"/>
                  </a:lnTo>
                  <a:cubicBezTo>
                    <a:pt x="0" y="29486"/>
                    <a:pt x="4228" y="19279"/>
                    <a:pt x="11754" y="11754"/>
                  </a:cubicBezTo>
                  <a:cubicBezTo>
                    <a:pt x="19279" y="4228"/>
                    <a:pt x="29486" y="0"/>
                    <a:pt x="40129" y="0"/>
                  </a:cubicBezTo>
                  <a:close/>
                </a:path>
              </a:pathLst>
            </a:custGeom>
            <a:blipFill>
              <a:blip r:embed="rId2"/>
              <a:stretch>
                <a:fillRect t="-24378" b="-24378"/>
              </a:stretch>
            </a:blipFill>
          </p:spPr>
        </p:sp>
      </p:grpSp>
      <p:grpSp>
        <p:nvGrpSpPr>
          <p:cNvPr id="7" name="Group 7"/>
          <p:cNvGrpSpPr/>
          <p:nvPr/>
        </p:nvGrpSpPr>
        <p:grpSpPr>
          <a:xfrm rot="2589027">
            <a:off x="15304163" y="-777605"/>
            <a:ext cx="4947690" cy="3086100"/>
            <a:chOff x="0" y="0"/>
            <a:chExt cx="1303095" cy="812800"/>
          </a:xfrm>
        </p:grpSpPr>
        <p:sp>
          <p:nvSpPr>
            <p:cNvPr id="8" name="Freeform 8"/>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9" name="TextBox 9"/>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635906" y="9154707"/>
            <a:ext cx="14144497" cy="1186504"/>
            <a:chOff x="0" y="0"/>
            <a:chExt cx="1527407" cy="128126"/>
          </a:xfrm>
        </p:grpSpPr>
        <p:sp>
          <p:nvSpPr>
            <p:cNvPr id="11" name="Freeform 11"/>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12" name="TextBox 12"/>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1115739" y="0"/>
            <a:ext cx="14144497" cy="1186504"/>
            <a:chOff x="0" y="0"/>
            <a:chExt cx="1527407" cy="128126"/>
          </a:xfrm>
        </p:grpSpPr>
        <p:sp>
          <p:nvSpPr>
            <p:cNvPr id="14" name="Freeform 14"/>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15" name="TextBox 15"/>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649855" y="9575641"/>
            <a:ext cx="14144497" cy="1340390"/>
            <a:chOff x="0" y="0"/>
            <a:chExt cx="1527407" cy="144743"/>
          </a:xfrm>
        </p:grpSpPr>
        <p:sp>
          <p:nvSpPr>
            <p:cNvPr id="17" name="Freeform 17"/>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8" name="TextBox 18"/>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1144314" y="-574945"/>
            <a:ext cx="14144497" cy="1340390"/>
            <a:chOff x="0" y="0"/>
            <a:chExt cx="1527407" cy="144743"/>
          </a:xfrm>
        </p:grpSpPr>
        <p:sp>
          <p:nvSpPr>
            <p:cNvPr id="20" name="Freeform 20"/>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21" name="TextBox 21"/>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7949751" y="1597536"/>
            <a:ext cx="1194249" cy="395188"/>
          </a:xfrm>
          <a:custGeom>
            <a:avLst/>
            <a:gdLst/>
            <a:ahLst/>
            <a:cxnLst/>
            <a:rect l="l" t="t" r="r" b="b"/>
            <a:pathLst>
              <a:path w="1194249" h="395188">
                <a:moveTo>
                  <a:pt x="0" y="0"/>
                </a:moveTo>
                <a:lnTo>
                  <a:pt x="1194249" y="0"/>
                </a:lnTo>
                <a:lnTo>
                  <a:pt x="1194249" y="395188"/>
                </a:lnTo>
                <a:lnTo>
                  <a:pt x="0" y="3951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3" name="Group 23"/>
          <p:cNvGrpSpPr/>
          <p:nvPr/>
        </p:nvGrpSpPr>
        <p:grpSpPr>
          <a:xfrm>
            <a:off x="8752730" y="9814634"/>
            <a:ext cx="13197471" cy="1522495"/>
            <a:chOff x="0" y="0"/>
            <a:chExt cx="1110635" cy="128126"/>
          </a:xfrm>
        </p:grpSpPr>
        <p:sp>
          <p:nvSpPr>
            <p:cNvPr id="24" name="Freeform 24"/>
            <p:cNvSpPr/>
            <p:nvPr/>
          </p:nvSpPr>
          <p:spPr>
            <a:xfrm>
              <a:off x="0" y="0"/>
              <a:ext cx="1110635" cy="128126"/>
            </a:xfrm>
            <a:custGeom>
              <a:avLst/>
              <a:gdLst/>
              <a:ahLst/>
              <a:cxnLst/>
              <a:rect l="l" t="t" r="r" b="b"/>
              <a:pathLst>
                <a:path w="1110635" h="128126">
                  <a:moveTo>
                    <a:pt x="907435" y="0"/>
                  </a:moveTo>
                  <a:lnTo>
                    <a:pt x="0" y="0"/>
                  </a:lnTo>
                  <a:lnTo>
                    <a:pt x="203200" y="128126"/>
                  </a:lnTo>
                  <a:lnTo>
                    <a:pt x="1110635" y="128126"/>
                  </a:lnTo>
                  <a:lnTo>
                    <a:pt x="907435" y="0"/>
                  </a:lnTo>
                  <a:close/>
                </a:path>
              </a:pathLst>
            </a:custGeom>
            <a:solidFill>
              <a:srgbClr val="F5AB0B"/>
            </a:solidFill>
          </p:spPr>
        </p:sp>
        <p:sp>
          <p:nvSpPr>
            <p:cNvPr id="25" name="TextBox 25"/>
            <p:cNvSpPr txBox="1"/>
            <p:nvPr/>
          </p:nvSpPr>
          <p:spPr>
            <a:xfrm>
              <a:off x="101600" y="-38100"/>
              <a:ext cx="907435" cy="16622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0660564" y="9497178"/>
            <a:ext cx="13197471" cy="1522495"/>
            <a:chOff x="0" y="0"/>
            <a:chExt cx="1110635" cy="128126"/>
          </a:xfrm>
        </p:grpSpPr>
        <p:sp>
          <p:nvSpPr>
            <p:cNvPr id="27" name="Freeform 27"/>
            <p:cNvSpPr/>
            <p:nvPr/>
          </p:nvSpPr>
          <p:spPr>
            <a:xfrm>
              <a:off x="0" y="0"/>
              <a:ext cx="1110635" cy="128126"/>
            </a:xfrm>
            <a:custGeom>
              <a:avLst/>
              <a:gdLst/>
              <a:ahLst/>
              <a:cxnLst/>
              <a:rect l="l" t="t" r="r" b="b"/>
              <a:pathLst>
                <a:path w="1110635" h="128126">
                  <a:moveTo>
                    <a:pt x="907435" y="0"/>
                  </a:moveTo>
                  <a:lnTo>
                    <a:pt x="0" y="0"/>
                  </a:lnTo>
                  <a:lnTo>
                    <a:pt x="203200" y="128126"/>
                  </a:lnTo>
                  <a:lnTo>
                    <a:pt x="1110635" y="128126"/>
                  </a:lnTo>
                  <a:lnTo>
                    <a:pt x="907435" y="0"/>
                  </a:lnTo>
                  <a:close/>
                </a:path>
              </a:pathLst>
            </a:custGeom>
            <a:solidFill>
              <a:srgbClr val="002C4F"/>
            </a:solidFill>
          </p:spPr>
        </p:sp>
        <p:sp>
          <p:nvSpPr>
            <p:cNvPr id="28" name="TextBox 28"/>
            <p:cNvSpPr txBox="1"/>
            <p:nvPr/>
          </p:nvSpPr>
          <p:spPr>
            <a:xfrm>
              <a:off x="101600" y="-38100"/>
              <a:ext cx="907435" cy="166226"/>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315248" y="1461724"/>
            <a:ext cx="5867125" cy="771586"/>
          </a:xfrm>
          <a:prstGeom prst="rect">
            <a:avLst/>
          </a:prstGeom>
        </p:spPr>
        <p:txBody>
          <a:bodyPr lIns="0" tIns="0" rIns="0" bIns="0" rtlCol="0" anchor="t">
            <a:spAutoFit/>
          </a:bodyPr>
          <a:lstStyle/>
          <a:p>
            <a:pPr algn="l">
              <a:lnSpc>
                <a:spcPts val="5780"/>
              </a:lnSpc>
            </a:pPr>
            <a:r>
              <a:rPr lang="en-US" sz="5780" b="1">
                <a:solidFill>
                  <a:srgbClr val="000000"/>
                </a:solidFill>
                <a:latin typeface="Inter Ultra-Bold"/>
                <a:ea typeface="Inter Ultra-Bold"/>
                <a:cs typeface="Inter Ultra-Bold"/>
                <a:sym typeface="Inter Ultra-Bold"/>
              </a:rPr>
              <a:t>PENDAHULUAN</a:t>
            </a:r>
          </a:p>
        </p:txBody>
      </p:sp>
      <p:sp>
        <p:nvSpPr>
          <p:cNvPr id="30" name="TextBox 30"/>
          <p:cNvSpPr txBox="1"/>
          <p:nvPr/>
        </p:nvSpPr>
        <p:spPr>
          <a:xfrm>
            <a:off x="1315248" y="2352177"/>
            <a:ext cx="10802025" cy="6193427"/>
          </a:xfrm>
          <a:prstGeom prst="rect">
            <a:avLst/>
          </a:prstGeom>
        </p:spPr>
        <p:txBody>
          <a:bodyPr lIns="0" tIns="0" rIns="0" bIns="0" rtlCol="0" anchor="t">
            <a:spAutoFit/>
          </a:bodyPr>
          <a:lstStyle/>
          <a:p>
            <a:pPr algn="just">
              <a:lnSpc>
                <a:spcPts val="3736"/>
              </a:lnSpc>
            </a:pPr>
            <a:r>
              <a:rPr lang="en-US" sz="3736" b="1" dirty="0" err="1">
                <a:solidFill>
                  <a:srgbClr val="000000"/>
                </a:solidFill>
                <a:latin typeface="Sukar Bold"/>
                <a:ea typeface="Sukar Bold"/>
                <a:cs typeface="Sukar Bold"/>
                <a:sym typeface="Sukar Bold"/>
              </a:rPr>
              <a:t>Keamanan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informasi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merupakan</a:t>
            </a:r>
            <a:r>
              <a:rPr lang="en-US" sz="3736" b="1" dirty="0">
                <a:solidFill>
                  <a:srgbClr val="000000"/>
                </a:solidFill>
                <a:latin typeface="Sukar Bold"/>
                <a:ea typeface="Sukar Bold"/>
                <a:cs typeface="Sukar Bold"/>
                <a:sym typeface="Sukar Bold"/>
              </a:rPr>
              <a:t> pilar </a:t>
            </a:r>
            <a:r>
              <a:rPr lang="en-US" sz="3736" b="1" dirty="0" err="1">
                <a:solidFill>
                  <a:srgbClr val="000000"/>
                </a:solidFill>
                <a:latin typeface="Sukar Bold"/>
                <a:ea typeface="Sukar Bold"/>
                <a:cs typeface="Sukar Bold"/>
                <a:sym typeface="Sukar Bold"/>
              </a:rPr>
              <a:t>penting</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dalam</a:t>
            </a:r>
            <a:r>
              <a:rPr lang="en-US" sz="3736" b="1" dirty="0">
                <a:solidFill>
                  <a:srgbClr val="000000"/>
                </a:solidFill>
                <a:latin typeface="Sukar Bold"/>
                <a:ea typeface="Sukar Bold"/>
                <a:cs typeface="Sukar Bold"/>
                <a:sym typeface="Sukar Bold"/>
              </a:rPr>
              <a:t> era digital. </a:t>
            </a:r>
            <a:r>
              <a:rPr lang="en-US" sz="3736" b="1" dirty="0" err="1">
                <a:solidFill>
                  <a:srgbClr val="000000"/>
                </a:solidFill>
                <a:latin typeface="Sukar Bold"/>
                <a:ea typeface="Sukar Bold"/>
                <a:cs typeface="Sukar Bold"/>
                <a:sym typeface="Sukar Bold"/>
              </a:rPr>
              <a:t>Algoritma</a:t>
            </a:r>
            <a:r>
              <a:rPr lang="en-US" sz="3736" b="1" dirty="0">
                <a:solidFill>
                  <a:srgbClr val="000000"/>
                </a:solidFill>
                <a:latin typeface="Sukar Bold"/>
                <a:ea typeface="Sukar Bold"/>
                <a:cs typeface="Sukar Bold"/>
                <a:sym typeface="Sukar Bold"/>
              </a:rPr>
              <a:t> SHA-1 dan SHA-2 </a:t>
            </a:r>
            <a:r>
              <a:rPr lang="en-US" sz="3736" b="1" dirty="0" err="1">
                <a:solidFill>
                  <a:srgbClr val="000000"/>
                </a:solidFill>
                <a:latin typeface="Sukar Bold"/>
                <a:ea typeface="Sukar Bold"/>
                <a:cs typeface="Sukar Bold"/>
                <a:sym typeface="Sukar Bold"/>
              </a:rPr>
              <a:t>mulai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menunjukkan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kerentanan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terhadap</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serangan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kriptanalisis</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Sebagai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tanggapan</a:t>
            </a:r>
            <a:r>
              <a:rPr lang="en-US" sz="3736" b="1" dirty="0">
                <a:solidFill>
                  <a:srgbClr val="000000"/>
                </a:solidFill>
                <a:latin typeface="Sukar Bold"/>
                <a:ea typeface="Sukar Bold"/>
                <a:cs typeface="Sukar Bold"/>
                <a:sym typeface="Sukar Bold"/>
              </a:rPr>
              <a:t>, NIST </a:t>
            </a:r>
            <a:r>
              <a:rPr lang="en-US" sz="3736" b="1" dirty="0" err="1">
                <a:solidFill>
                  <a:srgbClr val="000000"/>
                </a:solidFill>
                <a:latin typeface="Sukar Bold"/>
                <a:ea typeface="Sukar Bold"/>
                <a:cs typeface="Sukar Bold"/>
                <a:sym typeface="Sukar Bold"/>
              </a:rPr>
              <a:t>mengadakan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kompetisi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untuk</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merancang</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standar</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baru</a:t>
            </a:r>
            <a:r>
              <a:rPr lang="en-US" sz="3736" b="1" dirty="0">
                <a:solidFill>
                  <a:srgbClr val="000000"/>
                </a:solidFill>
                <a:latin typeface="Sukar Bold"/>
                <a:ea typeface="Sukar Bold"/>
                <a:cs typeface="Sukar Bold"/>
                <a:sym typeface="Sukar Bold"/>
              </a:rPr>
              <a:t>, yang </a:t>
            </a:r>
            <a:r>
              <a:rPr lang="en-US" sz="3736" b="1" dirty="0" err="1">
                <a:solidFill>
                  <a:srgbClr val="000000"/>
                </a:solidFill>
                <a:latin typeface="Sukar Bold"/>
                <a:ea typeface="Sukar Bold"/>
                <a:cs typeface="Sukar Bold"/>
                <a:sym typeface="Sukar Bold"/>
              </a:rPr>
              <a:t>akhirnya</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melahirkan</a:t>
            </a:r>
            <a:r>
              <a:rPr lang="en-US" sz="3736" b="1" dirty="0">
                <a:solidFill>
                  <a:srgbClr val="000000"/>
                </a:solidFill>
                <a:latin typeface="Sukar Bold"/>
                <a:ea typeface="Sukar Bold"/>
                <a:cs typeface="Sukar Bold"/>
                <a:sym typeface="Sukar Bold"/>
              </a:rPr>
              <a:t> Keccak </a:t>
            </a:r>
            <a:r>
              <a:rPr lang="en-US" sz="3736" b="1" dirty="0" err="1">
                <a:solidFill>
                  <a:srgbClr val="000000"/>
                </a:solidFill>
                <a:latin typeface="Sukar Bold"/>
                <a:ea typeface="Sukar Bold"/>
                <a:cs typeface="Sukar Bold"/>
                <a:sym typeface="Sukar Bold"/>
              </a:rPr>
              <a:t>sebagai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pemenang</a:t>
            </a:r>
            <a:r>
              <a:rPr lang="en-US" sz="3736" b="1" dirty="0">
                <a:solidFill>
                  <a:srgbClr val="000000"/>
                </a:solidFill>
                <a:latin typeface="Sukar Bold"/>
                <a:ea typeface="Sukar Bold"/>
                <a:cs typeface="Sukar Bold"/>
                <a:sym typeface="Sukar Bold"/>
              </a:rPr>
              <a:t> dan </a:t>
            </a:r>
            <a:r>
              <a:rPr lang="en-US" sz="3736" b="1" dirty="0" err="1">
                <a:solidFill>
                  <a:srgbClr val="000000"/>
                </a:solidFill>
                <a:latin typeface="Sukar Bold"/>
                <a:ea typeface="Sukar Bold"/>
                <a:cs typeface="Sukar Bold"/>
                <a:sym typeface="Sukar Bold"/>
              </a:rPr>
              <a:t>ditetapkan</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sebagai</a:t>
            </a:r>
            <a:r>
              <a:rPr lang="en-US" sz="3736" b="1" dirty="0">
                <a:solidFill>
                  <a:srgbClr val="000000"/>
                </a:solidFill>
                <a:latin typeface="Sukar Bold"/>
                <a:ea typeface="Sukar Bold"/>
                <a:cs typeface="Sukar Bold"/>
                <a:sym typeface="Sukar Bold"/>
              </a:rPr>
              <a:t> SHA-3 pada </a:t>
            </a:r>
            <a:r>
              <a:rPr lang="en-US" sz="3736" b="1" dirty="0" err="1">
                <a:solidFill>
                  <a:srgbClr val="000000"/>
                </a:solidFill>
                <a:latin typeface="Sukar Bold"/>
                <a:ea typeface="Sukar Bold"/>
                <a:cs typeface="Sukar Bold"/>
                <a:sym typeface="Sukar Bold"/>
              </a:rPr>
              <a:t>tahun</a:t>
            </a:r>
            <a:r>
              <a:rPr lang="en-US" sz="3736" b="1" dirty="0">
                <a:solidFill>
                  <a:srgbClr val="000000"/>
                </a:solidFill>
                <a:latin typeface="Sukar Bold"/>
                <a:ea typeface="Sukar Bold"/>
                <a:cs typeface="Sukar Bold"/>
                <a:sym typeface="Sukar Bold"/>
              </a:rPr>
              <a:t> 2015.</a:t>
            </a:r>
          </a:p>
          <a:p>
            <a:pPr algn="just">
              <a:lnSpc>
                <a:spcPts val="3736"/>
              </a:lnSpc>
            </a:pPr>
            <a:endParaRPr lang="en-US" sz="3736" b="1" dirty="0">
              <a:solidFill>
                <a:srgbClr val="000000"/>
              </a:solidFill>
              <a:latin typeface="Sukar Bold"/>
              <a:ea typeface="Sukar Bold"/>
              <a:cs typeface="Sukar Bold"/>
              <a:sym typeface="Sukar Bold"/>
            </a:endParaRPr>
          </a:p>
          <a:p>
            <a:pPr algn="just">
              <a:lnSpc>
                <a:spcPts val="3736"/>
              </a:lnSpc>
            </a:pPr>
            <a:r>
              <a:rPr lang="en-US" sz="3736" b="1" dirty="0">
                <a:solidFill>
                  <a:srgbClr val="000000"/>
                </a:solidFill>
                <a:latin typeface="Sukar Bold"/>
                <a:ea typeface="Sukar Bold"/>
                <a:cs typeface="Sukar Bold"/>
                <a:sym typeface="Sukar Bold"/>
              </a:rPr>
              <a:t>Studi </a:t>
            </a:r>
            <a:r>
              <a:rPr lang="en-US" sz="3736" b="1" dirty="0" err="1">
                <a:solidFill>
                  <a:srgbClr val="000000"/>
                </a:solidFill>
                <a:latin typeface="Sukar Bold"/>
                <a:ea typeface="Sukar Bold"/>
                <a:cs typeface="Sukar Bold"/>
                <a:sym typeface="Sukar Bold"/>
              </a:rPr>
              <a:t>literatur</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ini</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berfokus</a:t>
            </a:r>
            <a:r>
              <a:rPr lang="en-US" sz="3736" b="1" dirty="0">
                <a:solidFill>
                  <a:srgbClr val="000000"/>
                </a:solidFill>
                <a:latin typeface="Sukar Bold"/>
                <a:ea typeface="Sukar Bold"/>
                <a:cs typeface="Sukar Bold"/>
                <a:sym typeface="Sukar Bold"/>
              </a:rPr>
              <a:t> pada </a:t>
            </a:r>
            <a:r>
              <a:rPr lang="en-US" sz="3736" b="1" dirty="0" err="1">
                <a:solidFill>
                  <a:srgbClr val="000000"/>
                </a:solidFill>
                <a:latin typeface="Sukar Bold"/>
                <a:ea typeface="Sukar Bold"/>
                <a:cs typeface="Sukar Bold"/>
                <a:sym typeface="Sukar Bold"/>
              </a:rPr>
              <a:t>analisis</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performa</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algoritma</a:t>
            </a:r>
            <a:r>
              <a:rPr lang="en-US" sz="3736" b="1" dirty="0">
                <a:solidFill>
                  <a:srgbClr val="000000"/>
                </a:solidFill>
                <a:latin typeface="Sukar Bold"/>
                <a:ea typeface="Sukar Bold"/>
                <a:cs typeface="Sukar Bold"/>
                <a:sym typeface="Sukar Bold"/>
              </a:rPr>
              <a:t> SHA-3 </a:t>
            </a:r>
            <a:r>
              <a:rPr lang="en-US" sz="3736" b="1" dirty="0" err="1">
                <a:solidFill>
                  <a:srgbClr val="000000"/>
                </a:solidFill>
                <a:latin typeface="Sukar Bold"/>
                <a:ea typeface="Sukar Bold"/>
                <a:cs typeface="Sukar Bold"/>
                <a:sym typeface="Sukar Bold"/>
              </a:rPr>
              <a:t>dalam</a:t>
            </a:r>
            <a:r>
              <a:rPr lang="en-US" sz="3736" b="1" dirty="0">
                <a:solidFill>
                  <a:srgbClr val="000000"/>
                </a:solidFill>
                <a:latin typeface="Sukar Bold"/>
                <a:ea typeface="Sukar Bold"/>
                <a:cs typeface="Sukar Bold"/>
                <a:sym typeface="Sukar Bold"/>
              </a:rPr>
              <a:t> proses hashing data, </a:t>
            </a:r>
            <a:r>
              <a:rPr lang="en-US" sz="3736" b="1" dirty="0" err="1">
                <a:solidFill>
                  <a:srgbClr val="000000"/>
                </a:solidFill>
                <a:latin typeface="Sukar Bold"/>
                <a:ea typeface="Sukar Bold"/>
                <a:cs typeface="Sukar Bold"/>
                <a:sym typeface="Sukar Bold"/>
              </a:rPr>
              <a:t>terutama</a:t>
            </a:r>
            <a:r>
              <a:rPr lang="en-US" sz="3736" b="1" dirty="0">
                <a:solidFill>
                  <a:srgbClr val="000000"/>
                </a:solidFill>
                <a:latin typeface="Sukar Bold"/>
                <a:ea typeface="Sukar Bold"/>
                <a:cs typeface="Sukar Bold"/>
                <a:sym typeface="Sukar Bold"/>
              </a:rPr>
              <a:t> pada platform FPGA dan </a:t>
            </a:r>
            <a:r>
              <a:rPr lang="en-US" sz="3736" b="1" dirty="0" err="1">
                <a:solidFill>
                  <a:srgbClr val="000000"/>
                </a:solidFill>
                <a:latin typeface="Sukar Bold"/>
                <a:ea typeface="Sukar Bold"/>
                <a:cs typeface="Sukar Bold"/>
                <a:sym typeface="Sukar Bold"/>
              </a:rPr>
              <a:t>sistem</a:t>
            </a:r>
            <a:r>
              <a:rPr lang="en-US" sz="3736" b="1" dirty="0">
                <a:solidFill>
                  <a:srgbClr val="000000"/>
                </a:solidFill>
                <a:latin typeface="Sukar Bold"/>
                <a:ea typeface="Sukar Bold"/>
                <a:cs typeface="Sukar Bold"/>
                <a:sym typeface="Sukar Bold"/>
              </a:rPr>
              <a:t> </a:t>
            </a:r>
            <a:r>
              <a:rPr lang="en-US" sz="3736" b="1" dirty="0" err="1">
                <a:solidFill>
                  <a:srgbClr val="000000"/>
                </a:solidFill>
                <a:latin typeface="Sukar Bold"/>
                <a:ea typeface="Sukar Bold"/>
                <a:cs typeface="Sukar Bold"/>
                <a:sym typeface="Sukar Bold"/>
              </a:rPr>
              <a:t>tertanam</a:t>
            </a:r>
            <a:r>
              <a:rPr lang="en-US" sz="3736" b="1" dirty="0">
                <a:solidFill>
                  <a:srgbClr val="000000"/>
                </a:solidFill>
                <a:latin typeface="Sukar Bold"/>
                <a:ea typeface="Sukar Bold"/>
                <a:cs typeface="Sukar Bold"/>
                <a:sym typeface="Sukar Bold"/>
              </a:rPr>
              <a:t> (IoT/WSN).</a:t>
            </a:r>
          </a:p>
          <a:p>
            <a:pPr algn="just">
              <a:lnSpc>
                <a:spcPts val="3736"/>
              </a:lnSpc>
            </a:pPr>
            <a:endParaRPr lang="en-US" sz="3736" b="1" dirty="0">
              <a:solidFill>
                <a:srgbClr val="000000"/>
              </a:solidFill>
              <a:latin typeface="Sukar Bold"/>
              <a:ea typeface="Sukar Bold"/>
              <a:cs typeface="Sukar Bold"/>
              <a:sym typeface="Sukar Bold"/>
            </a:endParaRPr>
          </a:p>
          <a:p>
            <a:pPr algn="just">
              <a:lnSpc>
                <a:spcPts val="3736"/>
              </a:lnSpc>
            </a:pPr>
            <a:endParaRPr lang="en-US" sz="3736" b="1" dirty="0">
              <a:solidFill>
                <a:srgbClr val="000000"/>
              </a:solidFill>
              <a:latin typeface="Sukar Bold"/>
              <a:ea typeface="Sukar Bold"/>
              <a:cs typeface="Sukar Bold"/>
              <a:sym typeface="Sukar Bold"/>
            </a:endParaRPr>
          </a:p>
        </p:txBody>
      </p:sp>
      <p:sp>
        <p:nvSpPr>
          <p:cNvPr id="31" name="TextBox 31"/>
          <p:cNvSpPr txBox="1"/>
          <p:nvPr/>
        </p:nvSpPr>
        <p:spPr>
          <a:xfrm>
            <a:off x="9790974" y="1538585"/>
            <a:ext cx="6574747" cy="551190"/>
          </a:xfrm>
          <a:prstGeom prst="rect">
            <a:avLst/>
          </a:prstGeom>
        </p:spPr>
        <p:txBody>
          <a:bodyPr lIns="0" tIns="0" rIns="0" bIns="0" rtlCol="0" anchor="t">
            <a:spAutoFit/>
          </a:bodyPr>
          <a:lstStyle/>
          <a:p>
            <a:pPr algn="l">
              <a:lnSpc>
                <a:spcPts val="4298"/>
              </a:lnSpc>
            </a:pPr>
            <a:r>
              <a:rPr lang="en-US" sz="3907" b="1">
                <a:solidFill>
                  <a:srgbClr val="002C4F"/>
                </a:solidFill>
                <a:latin typeface="Sukar Heavy"/>
                <a:ea typeface="Sukar Heavy"/>
                <a:cs typeface="Sukar Heavy"/>
                <a:sym typeface="Sukar Heavy"/>
              </a:rPr>
              <a:t>UNIVERSITAS ESA UNGGUL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993391" y="9374487"/>
            <a:ext cx="10131768" cy="1522495"/>
            <a:chOff x="0" y="0"/>
            <a:chExt cx="852641" cy="128126"/>
          </a:xfrm>
        </p:grpSpPr>
        <p:sp>
          <p:nvSpPr>
            <p:cNvPr id="9" name="Freeform 9"/>
            <p:cNvSpPr/>
            <p:nvPr/>
          </p:nvSpPr>
          <p:spPr>
            <a:xfrm>
              <a:off x="0" y="0"/>
              <a:ext cx="852641" cy="128126"/>
            </a:xfrm>
            <a:custGeom>
              <a:avLst/>
              <a:gdLst/>
              <a:ahLst/>
              <a:cxnLst/>
              <a:rect l="l" t="t" r="r" b="b"/>
              <a:pathLst>
                <a:path w="852641" h="128126">
                  <a:moveTo>
                    <a:pt x="649441" y="0"/>
                  </a:moveTo>
                  <a:lnTo>
                    <a:pt x="0" y="0"/>
                  </a:lnTo>
                  <a:lnTo>
                    <a:pt x="203200" y="128126"/>
                  </a:lnTo>
                  <a:lnTo>
                    <a:pt x="852641" y="128126"/>
                  </a:lnTo>
                  <a:lnTo>
                    <a:pt x="649441" y="0"/>
                  </a:lnTo>
                  <a:close/>
                </a:path>
              </a:pathLst>
            </a:custGeom>
            <a:solidFill>
              <a:srgbClr val="F5AB0B"/>
            </a:solidFill>
          </p:spPr>
        </p:sp>
        <p:sp>
          <p:nvSpPr>
            <p:cNvPr id="10" name="TextBox 10"/>
            <p:cNvSpPr txBox="1"/>
            <p:nvPr/>
          </p:nvSpPr>
          <p:spPr>
            <a:xfrm>
              <a:off x="101600" y="-38100"/>
              <a:ext cx="649441" cy="16622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939656" y="9367336"/>
            <a:ext cx="5343123" cy="761247"/>
            <a:chOff x="0" y="0"/>
            <a:chExt cx="1219374" cy="173727"/>
          </a:xfrm>
        </p:grpSpPr>
        <p:sp>
          <p:nvSpPr>
            <p:cNvPr id="12" name="Freeform 12"/>
            <p:cNvSpPr/>
            <p:nvPr/>
          </p:nvSpPr>
          <p:spPr>
            <a:xfrm>
              <a:off x="0" y="0"/>
              <a:ext cx="1219374" cy="173727"/>
            </a:xfrm>
            <a:custGeom>
              <a:avLst/>
              <a:gdLst/>
              <a:ahLst/>
              <a:cxnLst/>
              <a:rect l="l" t="t" r="r" b="b"/>
              <a:pathLst>
                <a:path w="1219374" h="173727">
                  <a:moveTo>
                    <a:pt x="1016174" y="0"/>
                  </a:moveTo>
                  <a:lnTo>
                    <a:pt x="0" y="0"/>
                  </a:lnTo>
                  <a:lnTo>
                    <a:pt x="203200" y="173727"/>
                  </a:lnTo>
                  <a:lnTo>
                    <a:pt x="1219374" y="173727"/>
                  </a:lnTo>
                  <a:lnTo>
                    <a:pt x="1016174" y="0"/>
                  </a:lnTo>
                  <a:close/>
                </a:path>
              </a:pathLst>
            </a:custGeom>
            <a:solidFill>
              <a:srgbClr val="002C4F"/>
            </a:solidFill>
          </p:spPr>
        </p:sp>
        <p:sp>
          <p:nvSpPr>
            <p:cNvPr id="13" name="TextBox 13"/>
            <p:cNvSpPr txBox="1"/>
            <p:nvPr/>
          </p:nvSpPr>
          <p:spPr>
            <a:xfrm>
              <a:off x="101600" y="-38100"/>
              <a:ext cx="1016174" cy="21182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649855" y="9575641"/>
            <a:ext cx="14144497" cy="1340390"/>
            <a:chOff x="0" y="0"/>
            <a:chExt cx="1527407" cy="144743"/>
          </a:xfrm>
        </p:grpSpPr>
        <p:sp>
          <p:nvSpPr>
            <p:cNvPr id="15" name="Freeform 15"/>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6" name="TextBox 16"/>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407348" y="3223913"/>
            <a:ext cx="3859916" cy="1446259"/>
            <a:chOff x="0" y="0"/>
            <a:chExt cx="1016603" cy="380908"/>
          </a:xfrm>
        </p:grpSpPr>
        <p:sp>
          <p:nvSpPr>
            <p:cNvPr id="18" name="Freeform 18"/>
            <p:cNvSpPr/>
            <p:nvPr/>
          </p:nvSpPr>
          <p:spPr>
            <a:xfrm>
              <a:off x="0" y="0"/>
              <a:ext cx="1016603" cy="380908"/>
            </a:xfrm>
            <a:custGeom>
              <a:avLst/>
              <a:gdLst/>
              <a:ahLst/>
              <a:cxnLst/>
              <a:rect l="l" t="t" r="r" b="b"/>
              <a:pathLst>
                <a:path w="1016603" h="380908">
                  <a:moveTo>
                    <a:pt x="100286" y="0"/>
                  </a:moveTo>
                  <a:lnTo>
                    <a:pt x="916317" y="0"/>
                  </a:lnTo>
                  <a:cubicBezTo>
                    <a:pt x="942915" y="0"/>
                    <a:pt x="968423" y="10566"/>
                    <a:pt x="987230" y="29373"/>
                  </a:cubicBezTo>
                  <a:cubicBezTo>
                    <a:pt x="1006037" y="48180"/>
                    <a:pt x="1016603" y="73689"/>
                    <a:pt x="1016603" y="100286"/>
                  </a:cubicBezTo>
                  <a:lnTo>
                    <a:pt x="1016603" y="280622"/>
                  </a:lnTo>
                  <a:cubicBezTo>
                    <a:pt x="1016603" y="307219"/>
                    <a:pt x="1006037" y="332727"/>
                    <a:pt x="987230" y="351535"/>
                  </a:cubicBezTo>
                  <a:cubicBezTo>
                    <a:pt x="968423" y="370342"/>
                    <a:pt x="942915" y="380908"/>
                    <a:pt x="916317" y="380908"/>
                  </a:cubicBezTo>
                  <a:lnTo>
                    <a:pt x="100286" y="380908"/>
                  </a:lnTo>
                  <a:cubicBezTo>
                    <a:pt x="73689" y="380908"/>
                    <a:pt x="48180" y="370342"/>
                    <a:pt x="29373" y="351535"/>
                  </a:cubicBezTo>
                  <a:cubicBezTo>
                    <a:pt x="10566" y="332727"/>
                    <a:pt x="0" y="307219"/>
                    <a:pt x="0" y="2806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id="19" name="TextBox 19"/>
            <p:cNvSpPr txBox="1"/>
            <p:nvPr/>
          </p:nvSpPr>
          <p:spPr>
            <a:xfrm>
              <a:off x="0" y="-38100"/>
              <a:ext cx="1016603" cy="419008"/>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17998" y="3233786"/>
            <a:ext cx="3859916" cy="1446259"/>
            <a:chOff x="0" y="0"/>
            <a:chExt cx="1016603" cy="380908"/>
          </a:xfrm>
        </p:grpSpPr>
        <p:sp>
          <p:nvSpPr>
            <p:cNvPr id="21" name="Freeform 21"/>
            <p:cNvSpPr/>
            <p:nvPr/>
          </p:nvSpPr>
          <p:spPr>
            <a:xfrm>
              <a:off x="0" y="0"/>
              <a:ext cx="1016603" cy="380908"/>
            </a:xfrm>
            <a:custGeom>
              <a:avLst/>
              <a:gdLst/>
              <a:ahLst/>
              <a:cxnLst/>
              <a:rect l="l" t="t" r="r" b="b"/>
              <a:pathLst>
                <a:path w="1016603" h="380908">
                  <a:moveTo>
                    <a:pt x="100286" y="0"/>
                  </a:moveTo>
                  <a:lnTo>
                    <a:pt x="916317" y="0"/>
                  </a:lnTo>
                  <a:cubicBezTo>
                    <a:pt x="942915" y="0"/>
                    <a:pt x="968423" y="10566"/>
                    <a:pt x="987230" y="29373"/>
                  </a:cubicBezTo>
                  <a:cubicBezTo>
                    <a:pt x="1006037" y="48180"/>
                    <a:pt x="1016603" y="73689"/>
                    <a:pt x="1016603" y="100286"/>
                  </a:cubicBezTo>
                  <a:lnTo>
                    <a:pt x="1016603" y="280622"/>
                  </a:lnTo>
                  <a:cubicBezTo>
                    <a:pt x="1016603" y="307219"/>
                    <a:pt x="1006037" y="332727"/>
                    <a:pt x="987230" y="351535"/>
                  </a:cubicBezTo>
                  <a:cubicBezTo>
                    <a:pt x="968423" y="370342"/>
                    <a:pt x="942915" y="380908"/>
                    <a:pt x="916317" y="380908"/>
                  </a:cubicBezTo>
                  <a:lnTo>
                    <a:pt x="100286" y="380908"/>
                  </a:lnTo>
                  <a:cubicBezTo>
                    <a:pt x="73689" y="380908"/>
                    <a:pt x="48180" y="370342"/>
                    <a:pt x="29373" y="351535"/>
                  </a:cubicBezTo>
                  <a:cubicBezTo>
                    <a:pt x="10566" y="332727"/>
                    <a:pt x="0" y="307219"/>
                    <a:pt x="0" y="2806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id="22" name="TextBox 22"/>
            <p:cNvSpPr txBox="1"/>
            <p:nvPr/>
          </p:nvSpPr>
          <p:spPr>
            <a:xfrm>
              <a:off x="0" y="-38100"/>
              <a:ext cx="1016603" cy="419008"/>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999326" y="1690003"/>
            <a:ext cx="10289348" cy="1166502"/>
          </a:xfrm>
          <a:prstGeom prst="rect">
            <a:avLst/>
          </a:prstGeom>
        </p:spPr>
        <p:txBody>
          <a:bodyPr lIns="0" tIns="0" rIns="0" bIns="0" rtlCol="0" anchor="t">
            <a:spAutoFit/>
          </a:bodyPr>
          <a:lstStyle/>
          <a:p>
            <a:pPr algn="ctr">
              <a:lnSpc>
                <a:spcPts val="4496"/>
              </a:lnSpc>
            </a:pPr>
            <a:r>
              <a:rPr lang="en-US" sz="4496" b="1">
                <a:solidFill>
                  <a:srgbClr val="000000"/>
                </a:solidFill>
                <a:latin typeface="Inter Ultra-Bold"/>
                <a:ea typeface="Inter Ultra-Bold"/>
                <a:cs typeface="Inter Ultra-Bold"/>
                <a:sym typeface="Inter Ultra-Bold"/>
              </a:rPr>
              <a:t>KONSEP DASAR KRIPTOGRAFI DAN SHA-3</a:t>
            </a:r>
          </a:p>
        </p:txBody>
      </p:sp>
      <p:sp>
        <p:nvSpPr>
          <p:cNvPr id="24" name="TextBox 24"/>
          <p:cNvSpPr txBox="1"/>
          <p:nvPr/>
        </p:nvSpPr>
        <p:spPr>
          <a:xfrm>
            <a:off x="1905925" y="3730748"/>
            <a:ext cx="3312427" cy="469994"/>
          </a:xfrm>
          <a:prstGeom prst="rect">
            <a:avLst/>
          </a:prstGeom>
        </p:spPr>
        <p:txBody>
          <a:bodyPr lIns="0" tIns="0" rIns="0" bIns="0" rtlCol="0" anchor="t">
            <a:spAutoFit/>
          </a:bodyPr>
          <a:lstStyle/>
          <a:p>
            <a:pPr algn="ctr">
              <a:lnSpc>
                <a:spcPts val="3503"/>
              </a:lnSpc>
            </a:pPr>
            <a:r>
              <a:rPr lang="en-US" sz="3503" b="1">
                <a:solidFill>
                  <a:srgbClr val="002C4F"/>
                </a:solidFill>
                <a:latin typeface="Sukar Heavy"/>
                <a:ea typeface="Sukar Heavy"/>
                <a:cs typeface="Sukar Heavy"/>
                <a:sym typeface="Sukar Heavy"/>
              </a:rPr>
              <a:t>Kriptografi</a:t>
            </a:r>
          </a:p>
        </p:txBody>
      </p:sp>
      <p:sp>
        <p:nvSpPr>
          <p:cNvPr id="25" name="TextBox 25"/>
          <p:cNvSpPr txBox="1"/>
          <p:nvPr/>
        </p:nvSpPr>
        <p:spPr>
          <a:xfrm>
            <a:off x="1108639" y="5108669"/>
            <a:ext cx="3831552" cy="2490470"/>
          </a:xfrm>
          <a:prstGeom prst="rect">
            <a:avLst/>
          </a:prstGeom>
        </p:spPr>
        <p:txBody>
          <a:bodyPr lIns="0" tIns="0" rIns="0" bIns="0" rtlCol="0" anchor="t">
            <a:spAutoFit/>
          </a:bodyPr>
          <a:lstStyle/>
          <a:p>
            <a:pPr algn="just">
              <a:lnSpc>
                <a:spcPts val="2800"/>
              </a:lnSpc>
            </a:pPr>
            <a:r>
              <a:rPr lang="en-US" sz="2800" b="1" dirty="0">
                <a:solidFill>
                  <a:srgbClr val="000000"/>
                </a:solidFill>
                <a:latin typeface="Sukar Bold"/>
                <a:ea typeface="Sukar Bold"/>
                <a:cs typeface="Sukar Bold"/>
                <a:sym typeface="Sukar Bold"/>
              </a:rPr>
              <a:t>Teknik </a:t>
            </a:r>
            <a:r>
              <a:rPr lang="en-US" sz="2800" b="1" dirty="0" err="1">
                <a:solidFill>
                  <a:srgbClr val="000000"/>
                </a:solidFill>
                <a:latin typeface="Sukar Bold"/>
                <a:ea typeface="Sukar Bold"/>
                <a:cs typeface="Sukar Bold"/>
                <a:sym typeface="Sukar Bold"/>
              </a:rPr>
              <a:t>mengamankan</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pesan</a:t>
            </a:r>
            <a:r>
              <a:rPr lang="en-US" sz="2800" b="1" dirty="0">
                <a:solidFill>
                  <a:srgbClr val="000000"/>
                </a:solidFill>
                <a:latin typeface="Sukar Bold"/>
                <a:ea typeface="Sukar Bold"/>
                <a:cs typeface="Sukar Bold"/>
                <a:sym typeface="Sukar Bold"/>
              </a:rPr>
              <a:t> dan </a:t>
            </a:r>
            <a:r>
              <a:rPr lang="en-US" sz="2800" b="1" dirty="0" err="1">
                <a:solidFill>
                  <a:srgbClr val="000000"/>
                </a:solidFill>
                <a:latin typeface="Sukar Bold"/>
                <a:ea typeface="Sukar Bold"/>
                <a:cs typeface="Sukar Bold"/>
                <a:sym typeface="Sukar Bold"/>
              </a:rPr>
              <a:t>mengubahnya</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dari</a:t>
            </a:r>
            <a:r>
              <a:rPr lang="en-US" sz="2800" b="1" dirty="0">
                <a:solidFill>
                  <a:srgbClr val="000000"/>
                </a:solidFill>
                <a:latin typeface="Sukar Bold"/>
                <a:ea typeface="Sukar Bold"/>
                <a:cs typeface="Sukar Bold"/>
                <a:sym typeface="Sukar Bold"/>
              </a:rPr>
              <a:t> plaintext ⟶ ciphertext. </a:t>
            </a:r>
            <a:r>
              <a:rPr lang="en-US" sz="2800" b="1" dirty="0" err="1">
                <a:solidFill>
                  <a:srgbClr val="000000"/>
                </a:solidFill>
                <a:latin typeface="Sukar Bold"/>
                <a:ea typeface="Sukar Bold"/>
                <a:cs typeface="Sukar Bold"/>
                <a:sym typeface="Sukar Bold"/>
              </a:rPr>
              <a:t>Tujuannya</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yakni</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kerahasian</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integritas</a:t>
            </a:r>
            <a:r>
              <a:rPr lang="en-US" sz="2800" b="1" dirty="0">
                <a:solidFill>
                  <a:srgbClr val="000000"/>
                </a:solidFill>
                <a:latin typeface="Sukar Bold"/>
                <a:ea typeface="Sukar Bold"/>
                <a:cs typeface="Sukar Bold"/>
                <a:sym typeface="Sukar Bold"/>
              </a:rPr>
              <a:t>, </a:t>
            </a:r>
            <a:r>
              <a:rPr lang="en-US" sz="2800" b="1" dirty="0" err="1">
                <a:solidFill>
                  <a:srgbClr val="000000"/>
                </a:solidFill>
                <a:latin typeface="Sukar Bold"/>
                <a:ea typeface="Sukar Bold"/>
                <a:cs typeface="Sukar Bold"/>
                <a:sym typeface="Sukar Bold"/>
              </a:rPr>
              <a:t>autentikasi</a:t>
            </a:r>
            <a:r>
              <a:rPr lang="en-US" sz="2800" b="1" dirty="0">
                <a:solidFill>
                  <a:srgbClr val="000000"/>
                </a:solidFill>
                <a:latin typeface="Sukar Bold"/>
                <a:ea typeface="Sukar Bold"/>
                <a:cs typeface="Sukar Bold"/>
                <a:sym typeface="Sukar Bold"/>
              </a:rPr>
              <a:t>, non-repudiation </a:t>
            </a:r>
          </a:p>
        </p:txBody>
      </p:sp>
      <p:sp>
        <p:nvSpPr>
          <p:cNvPr id="26" name="TextBox 26"/>
          <p:cNvSpPr txBox="1"/>
          <p:nvPr/>
        </p:nvSpPr>
        <p:spPr>
          <a:xfrm>
            <a:off x="6790879" y="5162380"/>
            <a:ext cx="4171024" cy="3547745"/>
          </a:xfrm>
          <a:prstGeom prst="rect">
            <a:avLst/>
          </a:prstGeom>
        </p:spPr>
        <p:txBody>
          <a:bodyPr lIns="0" tIns="0" rIns="0" bIns="0" rtlCol="0" anchor="t">
            <a:spAutoFit/>
          </a:bodyPr>
          <a:lstStyle/>
          <a:p>
            <a:pPr algn="just">
              <a:lnSpc>
                <a:spcPts val="2800"/>
              </a:lnSpc>
            </a:pPr>
            <a:r>
              <a:rPr lang="en-US" sz="2800" b="1">
                <a:solidFill>
                  <a:srgbClr val="000000"/>
                </a:solidFill>
                <a:latin typeface="Sukar Bold"/>
                <a:ea typeface="Sukar Bold"/>
                <a:cs typeface="Sukar Bold"/>
                <a:sym typeface="Sukar Bold"/>
              </a:rPr>
              <a:t>Mengubah data acak menjadi nilai tetap (hash) dengan sifat deterministik, sulit dibalik, sensitif terhadap perubahan kecil. </a:t>
            </a:r>
          </a:p>
          <a:p>
            <a:pPr algn="just">
              <a:lnSpc>
                <a:spcPts val="2800"/>
              </a:lnSpc>
            </a:pPr>
            <a:endParaRPr lang="en-US" sz="2800" b="1">
              <a:solidFill>
                <a:srgbClr val="000000"/>
              </a:solidFill>
              <a:latin typeface="Sukar Bold"/>
              <a:ea typeface="Sukar Bold"/>
              <a:cs typeface="Sukar Bold"/>
              <a:sym typeface="Sukar Bold"/>
            </a:endParaRPr>
          </a:p>
          <a:p>
            <a:pPr algn="just">
              <a:lnSpc>
                <a:spcPts val="2800"/>
              </a:lnSpc>
            </a:pPr>
            <a:r>
              <a:rPr lang="en-US" sz="2800" b="1">
                <a:solidFill>
                  <a:srgbClr val="000000"/>
                </a:solidFill>
                <a:latin typeface="Sukar Bold"/>
                <a:ea typeface="Sukar Bold"/>
                <a:cs typeface="Sukar Bold"/>
                <a:sym typeface="Sukar Bold"/>
              </a:rPr>
              <a:t>Proses hashing terdiri dari tahapan padding, pemrosesan blok, dan kompresi.</a:t>
            </a:r>
          </a:p>
        </p:txBody>
      </p:sp>
      <p:sp>
        <p:nvSpPr>
          <p:cNvPr id="27" name="Freeform 27"/>
          <p:cNvSpPr/>
          <p:nvPr/>
        </p:nvSpPr>
        <p:spPr>
          <a:xfrm>
            <a:off x="14740044" y="1835203"/>
            <a:ext cx="1194249" cy="395188"/>
          </a:xfrm>
          <a:custGeom>
            <a:avLst/>
            <a:gdLst/>
            <a:ahLst/>
            <a:cxnLst/>
            <a:rect l="l" t="t" r="r" b="b"/>
            <a:pathLst>
              <a:path w="1194249" h="395188">
                <a:moveTo>
                  <a:pt x="0" y="0"/>
                </a:moveTo>
                <a:lnTo>
                  <a:pt x="1194249" y="0"/>
                </a:lnTo>
                <a:lnTo>
                  <a:pt x="1194249" y="395188"/>
                </a:lnTo>
                <a:lnTo>
                  <a:pt x="0" y="3951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a:off x="2353707" y="1835203"/>
            <a:ext cx="1194249" cy="395188"/>
          </a:xfrm>
          <a:custGeom>
            <a:avLst/>
            <a:gdLst/>
            <a:ahLst/>
            <a:cxnLst/>
            <a:rect l="l" t="t" r="r" b="b"/>
            <a:pathLst>
              <a:path w="1194249" h="395188">
                <a:moveTo>
                  <a:pt x="0" y="0"/>
                </a:moveTo>
                <a:lnTo>
                  <a:pt x="1194249" y="0"/>
                </a:lnTo>
                <a:lnTo>
                  <a:pt x="1194249" y="395188"/>
                </a:lnTo>
                <a:lnTo>
                  <a:pt x="0" y="3951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TextBox 29"/>
          <p:cNvSpPr txBox="1"/>
          <p:nvPr/>
        </p:nvSpPr>
        <p:spPr>
          <a:xfrm>
            <a:off x="11619481" y="642368"/>
            <a:ext cx="6574747" cy="551190"/>
          </a:xfrm>
          <a:prstGeom prst="rect">
            <a:avLst/>
          </a:prstGeom>
        </p:spPr>
        <p:txBody>
          <a:bodyPr lIns="0" tIns="0" rIns="0" bIns="0" rtlCol="0" anchor="t">
            <a:spAutoFit/>
          </a:bodyPr>
          <a:lstStyle/>
          <a:p>
            <a:pPr algn="l">
              <a:lnSpc>
                <a:spcPts val="4298"/>
              </a:lnSpc>
            </a:pPr>
            <a:r>
              <a:rPr lang="en-US" sz="3907" b="1">
                <a:solidFill>
                  <a:srgbClr val="002C4F"/>
                </a:solidFill>
                <a:latin typeface="Sukar Heavy"/>
                <a:ea typeface="Sukar Heavy"/>
                <a:cs typeface="Sukar Heavy"/>
                <a:sym typeface="Sukar Heavy"/>
              </a:rPr>
              <a:t>UNIVERSITAS ESA UNGGUL</a:t>
            </a:r>
          </a:p>
        </p:txBody>
      </p:sp>
      <p:grpSp>
        <p:nvGrpSpPr>
          <p:cNvPr id="30" name="Group 30"/>
          <p:cNvGrpSpPr/>
          <p:nvPr/>
        </p:nvGrpSpPr>
        <p:grpSpPr>
          <a:xfrm>
            <a:off x="7375732" y="3204168"/>
            <a:ext cx="3859916" cy="1466004"/>
            <a:chOff x="0" y="0"/>
            <a:chExt cx="1016603" cy="386108"/>
          </a:xfrm>
        </p:grpSpPr>
        <p:sp>
          <p:nvSpPr>
            <p:cNvPr id="31" name="Freeform 31"/>
            <p:cNvSpPr/>
            <p:nvPr/>
          </p:nvSpPr>
          <p:spPr>
            <a:xfrm>
              <a:off x="0" y="0"/>
              <a:ext cx="1016603" cy="386108"/>
            </a:xfrm>
            <a:custGeom>
              <a:avLst/>
              <a:gdLst/>
              <a:ahLst/>
              <a:cxnLst/>
              <a:rect l="l" t="t" r="r" b="b"/>
              <a:pathLst>
                <a:path w="1016603" h="386108">
                  <a:moveTo>
                    <a:pt x="100286" y="0"/>
                  </a:moveTo>
                  <a:lnTo>
                    <a:pt x="916317" y="0"/>
                  </a:lnTo>
                  <a:cubicBezTo>
                    <a:pt x="942915" y="0"/>
                    <a:pt x="968423" y="10566"/>
                    <a:pt x="987230" y="29373"/>
                  </a:cubicBezTo>
                  <a:cubicBezTo>
                    <a:pt x="1006037" y="48180"/>
                    <a:pt x="1016603" y="73689"/>
                    <a:pt x="1016603" y="100286"/>
                  </a:cubicBezTo>
                  <a:lnTo>
                    <a:pt x="1016603" y="285822"/>
                  </a:lnTo>
                  <a:cubicBezTo>
                    <a:pt x="1016603" y="312419"/>
                    <a:pt x="1006037" y="337928"/>
                    <a:pt x="987230" y="356735"/>
                  </a:cubicBezTo>
                  <a:cubicBezTo>
                    <a:pt x="968423" y="375542"/>
                    <a:pt x="942915" y="386108"/>
                    <a:pt x="916317" y="386108"/>
                  </a:cubicBezTo>
                  <a:lnTo>
                    <a:pt x="100286" y="386108"/>
                  </a:lnTo>
                  <a:cubicBezTo>
                    <a:pt x="73689" y="386108"/>
                    <a:pt x="48180" y="375542"/>
                    <a:pt x="29373" y="356735"/>
                  </a:cubicBezTo>
                  <a:cubicBezTo>
                    <a:pt x="10566" y="337928"/>
                    <a:pt x="0" y="312419"/>
                    <a:pt x="0" y="285822"/>
                  </a:cubicBezTo>
                  <a:lnTo>
                    <a:pt x="0" y="100286"/>
                  </a:lnTo>
                  <a:cubicBezTo>
                    <a:pt x="0" y="73689"/>
                    <a:pt x="10566" y="48180"/>
                    <a:pt x="29373" y="29373"/>
                  </a:cubicBezTo>
                  <a:cubicBezTo>
                    <a:pt x="48180" y="10566"/>
                    <a:pt x="73689" y="0"/>
                    <a:pt x="100286" y="0"/>
                  </a:cubicBezTo>
                  <a:close/>
                </a:path>
              </a:pathLst>
            </a:custGeom>
            <a:solidFill>
              <a:srgbClr val="F5AB0B"/>
            </a:solidFill>
          </p:spPr>
        </p:sp>
        <p:sp>
          <p:nvSpPr>
            <p:cNvPr id="32" name="TextBox 32"/>
            <p:cNvSpPr txBox="1"/>
            <p:nvPr/>
          </p:nvSpPr>
          <p:spPr>
            <a:xfrm>
              <a:off x="0" y="-38100"/>
              <a:ext cx="1016603" cy="424208"/>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7649477" y="3750493"/>
            <a:ext cx="3312427" cy="469994"/>
          </a:xfrm>
          <a:prstGeom prst="rect">
            <a:avLst/>
          </a:prstGeom>
        </p:spPr>
        <p:txBody>
          <a:bodyPr lIns="0" tIns="0" rIns="0" bIns="0" rtlCol="0" anchor="t">
            <a:spAutoFit/>
          </a:bodyPr>
          <a:lstStyle/>
          <a:p>
            <a:pPr algn="ctr">
              <a:lnSpc>
                <a:spcPts val="3503"/>
              </a:lnSpc>
            </a:pPr>
            <a:r>
              <a:rPr lang="en-US" sz="3503" b="1">
                <a:solidFill>
                  <a:srgbClr val="002C4F"/>
                </a:solidFill>
                <a:latin typeface="Sukar Heavy"/>
                <a:ea typeface="Sukar Heavy"/>
                <a:cs typeface="Sukar Heavy"/>
                <a:sym typeface="Sukar Heavy"/>
              </a:rPr>
              <a:t>Fungsi Hash</a:t>
            </a:r>
          </a:p>
        </p:txBody>
      </p:sp>
      <p:sp>
        <p:nvSpPr>
          <p:cNvPr id="34" name="TextBox 34"/>
          <p:cNvSpPr txBox="1"/>
          <p:nvPr/>
        </p:nvSpPr>
        <p:spPr>
          <a:xfrm>
            <a:off x="13681092" y="3730748"/>
            <a:ext cx="3312427" cy="469994"/>
          </a:xfrm>
          <a:prstGeom prst="rect">
            <a:avLst/>
          </a:prstGeom>
        </p:spPr>
        <p:txBody>
          <a:bodyPr lIns="0" tIns="0" rIns="0" bIns="0" rtlCol="0" anchor="t">
            <a:spAutoFit/>
          </a:bodyPr>
          <a:lstStyle/>
          <a:p>
            <a:pPr algn="ctr">
              <a:lnSpc>
                <a:spcPts val="3503"/>
              </a:lnSpc>
            </a:pPr>
            <a:r>
              <a:rPr lang="en-US" sz="3503" b="1">
                <a:solidFill>
                  <a:srgbClr val="002C4F"/>
                </a:solidFill>
                <a:latin typeface="Sukar Heavy"/>
                <a:ea typeface="Sukar Heavy"/>
                <a:cs typeface="Sukar Heavy"/>
                <a:sym typeface="Sukar Heavy"/>
              </a:rPr>
              <a:t>SHA-3</a:t>
            </a:r>
          </a:p>
        </p:txBody>
      </p:sp>
      <p:sp>
        <p:nvSpPr>
          <p:cNvPr id="35" name="TextBox 35"/>
          <p:cNvSpPr txBox="1"/>
          <p:nvPr/>
        </p:nvSpPr>
        <p:spPr>
          <a:xfrm>
            <a:off x="12475726" y="5136897"/>
            <a:ext cx="5291109" cy="4210050"/>
          </a:xfrm>
          <a:prstGeom prst="rect">
            <a:avLst/>
          </a:prstGeom>
        </p:spPr>
        <p:txBody>
          <a:bodyPr lIns="0" tIns="0" rIns="0" bIns="0" rtlCol="0" anchor="t">
            <a:spAutoFit/>
          </a:bodyPr>
          <a:lstStyle/>
          <a:p>
            <a:pPr algn="just">
              <a:lnSpc>
                <a:spcPts val="2754"/>
              </a:lnSpc>
            </a:pPr>
            <a:r>
              <a:rPr lang="en-US" sz="2754" b="1">
                <a:solidFill>
                  <a:srgbClr val="000000"/>
                </a:solidFill>
                <a:latin typeface="Sukar Bold"/>
                <a:ea typeface="Sukar Bold"/>
                <a:cs typeface="Sukar Bold"/>
                <a:sym typeface="Sukar Bold"/>
              </a:rPr>
              <a:t>Menggunakan model baru bernama Sponge Construction, yang terdiri dari dua fase:</a:t>
            </a:r>
          </a:p>
          <a:p>
            <a:pPr marL="594610" lvl="1" indent="-297305" algn="just">
              <a:lnSpc>
                <a:spcPts val="2754"/>
              </a:lnSpc>
              <a:buFont typeface="Arial"/>
              <a:buChar char="•"/>
            </a:pPr>
            <a:r>
              <a:rPr lang="en-US" sz="2754" b="1">
                <a:solidFill>
                  <a:srgbClr val="000000"/>
                </a:solidFill>
                <a:latin typeface="Sukar Bold"/>
                <a:ea typeface="Sukar Bold"/>
                <a:cs typeface="Sukar Bold"/>
                <a:sym typeface="Sukar Bold"/>
              </a:rPr>
              <a:t>Absorb: input “diserap” ke dalam state internal.</a:t>
            </a:r>
          </a:p>
          <a:p>
            <a:pPr marL="594610" lvl="1" indent="-297305" algn="just">
              <a:lnSpc>
                <a:spcPts val="2754"/>
              </a:lnSpc>
              <a:buFont typeface="Arial"/>
              <a:buChar char="•"/>
            </a:pPr>
            <a:r>
              <a:rPr lang="en-US" sz="2754" b="1">
                <a:solidFill>
                  <a:srgbClr val="000000"/>
                </a:solidFill>
                <a:latin typeface="Sukar Bold"/>
                <a:ea typeface="Sukar Bold"/>
                <a:cs typeface="Sukar Bold"/>
                <a:sym typeface="Sukar Bold"/>
              </a:rPr>
              <a:t>Squeeze: output hash “diperas” dari state untuk menghasilkan panjang tertentu.</a:t>
            </a:r>
          </a:p>
          <a:p>
            <a:pPr algn="just">
              <a:lnSpc>
                <a:spcPts val="2754"/>
              </a:lnSpc>
            </a:pPr>
            <a:r>
              <a:rPr lang="en-US" sz="2754" b="1">
                <a:solidFill>
                  <a:srgbClr val="000000"/>
                </a:solidFill>
                <a:latin typeface="Sukar Bold"/>
                <a:ea typeface="Sukar Bold"/>
                <a:cs typeface="Sukar Bold"/>
                <a:sym typeface="Sukar Bold"/>
              </a:rPr>
              <a:t>Struktur sponge membuat SHA-3 lebih tahan terhadap serangan length extension dibanding SHA-2.</a:t>
            </a:r>
          </a:p>
          <a:p>
            <a:pPr algn="just">
              <a:lnSpc>
                <a:spcPts val="2754"/>
              </a:lnSpc>
            </a:pPr>
            <a:endParaRPr lang="en-US" sz="2754" b="1">
              <a:solidFill>
                <a:srgbClr val="000000"/>
              </a:solidFill>
              <a:latin typeface="Sukar Bold"/>
              <a:ea typeface="Sukar Bold"/>
              <a:cs typeface="Sukar Bold"/>
              <a:sym typeface="Sukar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838319" y="2261456"/>
            <a:ext cx="4823132" cy="5764088"/>
            <a:chOff x="0" y="0"/>
            <a:chExt cx="747229" cy="893008"/>
          </a:xfrm>
        </p:grpSpPr>
        <p:sp>
          <p:nvSpPr>
            <p:cNvPr id="6" name="Freeform 6"/>
            <p:cNvSpPr/>
            <p:nvPr/>
          </p:nvSpPr>
          <p:spPr>
            <a:xfrm>
              <a:off x="0" y="0"/>
              <a:ext cx="747229" cy="893008"/>
            </a:xfrm>
            <a:custGeom>
              <a:avLst/>
              <a:gdLst/>
              <a:ahLst/>
              <a:cxnLst/>
              <a:rect l="l" t="t" r="r" b="b"/>
              <a:pathLst>
                <a:path w="747229" h="893008">
                  <a:moveTo>
                    <a:pt x="40129" y="0"/>
                  </a:moveTo>
                  <a:lnTo>
                    <a:pt x="707100" y="0"/>
                  </a:lnTo>
                  <a:cubicBezTo>
                    <a:pt x="729263" y="0"/>
                    <a:pt x="747229" y="17966"/>
                    <a:pt x="747229" y="40129"/>
                  </a:cubicBezTo>
                  <a:lnTo>
                    <a:pt x="747229" y="852879"/>
                  </a:lnTo>
                  <a:cubicBezTo>
                    <a:pt x="747229" y="863522"/>
                    <a:pt x="743002" y="873729"/>
                    <a:pt x="735476" y="881255"/>
                  </a:cubicBezTo>
                  <a:cubicBezTo>
                    <a:pt x="727950" y="888780"/>
                    <a:pt x="717743" y="893008"/>
                    <a:pt x="707100" y="893008"/>
                  </a:cubicBezTo>
                  <a:lnTo>
                    <a:pt x="40129" y="893008"/>
                  </a:lnTo>
                  <a:cubicBezTo>
                    <a:pt x="29486" y="893008"/>
                    <a:pt x="19279" y="888780"/>
                    <a:pt x="11754" y="881255"/>
                  </a:cubicBezTo>
                  <a:cubicBezTo>
                    <a:pt x="4228" y="873729"/>
                    <a:pt x="0" y="863522"/>
                    <a:pt x="0" y="852879"/>
                  </a:cubicBezTo>
                  <a:lnTo>
                    <a:pt x="0" y="40129"/>
                  </a:lnTo>
                  <a:cubicBezTo>
                    <a:pt x="0" y="29486"/>
                    <a:pt x="4228" y="19279"/>
                    <a:pt x="11754" y="11754"/>
                  </a:cubicBezTo>
                  <a:cubicBezTo>
                    <a:pt x="19279" y="4228"/>
                    <a:pt x="29486" y="0"/>
                    <a:pt x="40129" y="0"/>
                  </a:cubicBezTo>
                  <a:close/>
                </a:path>
              </a:pathLst>
            </a:custGeom>
            <a:blipFill>
              <a:blip r:embed="rId2"/>
              <a:stretch>
                <a:fillRect t="-24378" b="-24378"/>
              </a:stretch>
            </a:blipFill>
          </p:spPr>
        </p:sp>
      </p:grpSp>
      <p:grpSp>
        <p:nvGrpSpPr>
          <p:cNvPr id="7" name="Group 7"/>
          <p:cNvGrpSpPr/>
          <p:nvPr/>
        </p:nvGrpSpPr>
        <p:grpSpPr>
          <a:xfrm rot="2589027">
            <a:off x="15304163" y="-777605"/>
            <a:ext cx="4947690" cy="3086100"/>
            <a:chOff x="0" y="0"/>
            <a:chExt cx="1303095" cy="812800"/>
          </a:xfrm>
        </p:grpSpPr>
        <p:sp>
          <p:nvSpPr>
            <p:cNvPr id="8" name="Freeform 8"/>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9" name="TextBox 9"/>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635906" y="9154707"/>
            <a:ext cx="14144497" cy="1186504"/>
            <a:chOff x="0" y="0"/>
            <a:chExt cx="1527407" cy="128126"/>
          </a:xfrm>
        </p:grpSpPr>
        <p:sp>
          <p:nvSpPr>
            <p:cNvPr id="11" name="Freeform 11"/>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12" name="TextBox 12"/>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1115739" y="0"/>
            <a:ext cx="14144497" cy="1186504"/>
            <a:chOff x="0" y="0"/>
            <a:chExt cx="1527407" cy="128126"/>
          </a:xfrm>
        </p:grpSpPr>
        <p:sp>
          <p:nvSpPr>
            <p:cNvPr id="14" name="Freeform 14"/>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15" name="TextBox 15"/>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649855" y="9575641"/>
            <a:ext cx="14144497" cy="1340390"/>
            <a:chOff x="0" y="0"/>
            <a:chExt cx="1527407" cy="144743"/>
          </a:xfrm>
        </p:grpSpPr>
        <p:sp>
          <p:nvSpPr>
            <p:cNvPr id="17" name="Freeform 17"/>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8" name="TextBox 18"/>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1144314" y="-574945"/>
            <a:ext cx="14144497" cy="1340390"/>
            <a:chOff x="0" y="0"/>
            <a:chExt cx="1527407" cy="144743"/>
          </a:xfrm>
        </p:grpSpPr>
        <p:sp>
          <p:nvSpPr>
            <p:cNvPr id="20" name="Freeform 20"/>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21" name="TextBox 21"/>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7949751" y="1597536"/>
            <a:ext cx="1194249" cy="395188"/>
          </a:xfrm>
          <a:custGeom>
            <a:avLst/>
            <a:gdLst/>
            <a:ahLst/>
            <a:cxnLst/>
            <a:rect l="l" t="t" r="r" b="b"/>
            <a:pathLst>
              <a:path w="1194249" h="395188">
                <a:moveTo>
                  <a:pt x="0" y="0"/>
                </a:moveTo>
                <a:lnTo>
                  <a:pt x="1194249" y="0"/>
                </a:lnTo>
                <a:lnTo>
                  <a:pt x="1194249" y="395188"/>
                </a:lnTo>
                <a:lnTo>
                  <a:pt x="0" y="3951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3" name="Group 23"/>
          <p:cNvGrpSpPr/>
          <p:nvPr/>
        </p:nvGrpSpPr>
        <p:grpSpPr>
          <a:xfrm>
            <a:off x="8752730" y="9814634"/>
            <a:ext cx="13197471" cy="1522495"/>
            <a:chOff x="0" y="0"/>
            <a:chExt cx="1110635" cy="128126"/>
          </a:xfrm>
        </p:grpSpPr>
        <p:sp>
          <p:nvSpPr>
            <p:cNvPr id="24" name="Freeform 24"/>
            <p:cNvSpPr/>
            <p:nvPr/>
          </p:nvSpPr>
          <p:spPr>
            <a:xfrm>
              <a:off x="0" y="0"/>
              <a:ext cx="1110635" cy="128126"/>
            </a:xfrm>
            <a:custGeom>
              <a:avLst/>
              <a:gdLst/>
              <a:ahLst/>
              <a:cxnLst/>
              <a:rect l="l" t="t" r="r" b="b"/>
              <a:pathLst>
                <a:path w="1110635" h="128126">
                  <a:moveTo>
                    <a:pt x="907435" y="0"/>
                  </a:moveTo>
                  <a:lnTo>
                    <a:pt x="0" y="0"/>
                  </a:lnTo>
                  <a:lnTo>
                    <a:pt x="203200" y="128126"/>
                  </a:lnTo>
                  <a:lnTo>
                    <a:pt x="1110635" y="128126"/>
                  </a:lnTo>
                  <a:lnTo>
                    <a:pt x="907435" y="0"/>
                  </a:lnTo>
                  <a:close/>
                </a:path>
              </a:pathLst>
            </a:custGeom>
            <a:solidFill>
              <a:srgbClr val="F5AB0B"/>
            </a:solidFill>
          </p:spPr>
        </p:sp>
        <p:sp>
          <p:nvSpPr>
            <p:cNvPr id="25" name="TextBox 25"/>
            <p:cNvSpPr txBox="1"/>
            <p:nvPr/>
          </p:nvSpPr>
          <p:spPr>
            <a:xfrm>
              <a:off x="101600" y="-38100"/>
              <a:ext cx="907435" cy="16622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0660564" y="9497178"/>
            <a:ext cx="13197471" cy="1522495"/>
            <a:chOff x="0" y="0"/>
            <a:chExt cx="1110635" cy="128126"/>
          </a:xfrm>
        </p:grpSpPr>
        <p:sp>
          <p:nvSpPr>
            <p:cNvPr id="27" name="Freeform 27"/>
            <p:cNvSpPr/>
            <p:nvPr/>
          </p:nvSpPr>
          <p:spPr>
            <a:xfrm>
              <a:off x="0" y="0"/>
              <a:ext cx="1110635" cy="128126"/>
            </a:xfrm>
            <a:custGeom>
              <a:avLst/>
              <a:gdLst/>
              <a:ahLst/>
              <a:cxnLst/>
              <a:rect l="l" t="t" r="r" b="b"/>
              <a:pathLst>
                <a:path w="1110635" h="128126">
                  <a:moveTo>
                    <a:pt x="907435" y="0"/>
                  </a:moveTo>
                  <a:lnTo>
                    <a:pt x="0" y="0"/>
                  </a:lnTo>
                  <a:lnTo>
                    <a:pt x="203200" y="128126"/>
                  </a:lnTo>
                  <a:lnTo>
                    <a:pt x="1110635" y="128126"/>
                  </a:lnTo>
                  <a:lnTo>
                    <a:pt x="907435" y="0"/>
                  </a:lnTo>
                  <a:close/>
                </a:path>
              </a:pathLst>
            </a:custGeom>
            <a:solidFill>
              <a:srgbClr val="002C4F"/>
            </a:solidFill>
          </p:spPr>
        </p:sp>
        <p:sp>
          <p:nvSpPr>
            <p:cNvPr id="28" name="TextBox 28"/>
            <p:cNvSpPr txBox="1"/>
            <p:nvPr/>
          </p:nvSpPr>
          <p:spPr>
            <a:xfrm>
              <a:off x="101600" y="-38100"/>
              <a:ext cx="907435" cy="166226"/>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315248" y="1452199"/>
            <a:ext cx="6440220" cy="626255"/>
          </a:xfrm>
          <a:prstGeom prst="rect">
            <a:avLst/>
          </a:prstGeom>
        </p:spPr>
        <p:txBody>
          <a:bodyPr lIns="0" tIns="0" rIns="0" bIns="0" rtlCol="0" anchor="t">
            <a:spAutoFit/>
          </a:bodyPr>
          <a:lstStyle/>
          <a:p>
            <a:pPr algn="l">
              <a:lnSpc>
                <a:spcPts val="4780"/>
              </a:lnSpc>
            </a:pPr>
            <a:r>
              <a:rPr lang="en-US" sz="4780" b="1">
                <a:solidFill>
                  <a:srgbClr val="000000"/>
                </a:solidFill>
                <a:latin typeface="Inter Ultra-Bold"/>
                <a:ea typeface="Inter Ultra-Bold"/>
                <a:cs typeface="Inter Ultra-Bold"/>
                <a:sym typeface="Inter Ultra-Bold"/>
              </a:rPr>
              <a:t>ASPEK PERFORMA</a:t>
            </a:r>
          </a:p>
        </p:txBody>
      </p:sp>
      <p:sp>
        <p:nvSpPr>
          <p:cNvPr id="30" name="TextBox 30"/>
          <p:cNvSpPr txBox="1"/>
          <p:nvPr/>
        </p:nvSpPr>
        <p:spPr>
          <a:xfrm>
            <a:off x="1315248" y="2352177"/>
            <a:ext cx="11317811" cy="6987834"/>
          </a:xfrm>
          <a:prstGeom prst="rect">
            <a:avLst/>
          </a:prstGeom>
        </p:spPr>
        <p:txBody>
          <a:bodyPr lIns="0" tIns="0" rIns="0" bIns="0" rtlCol="0" anchor="t">
            <a:spAutoFit/>
          </a:bodyPr>
          <a:lstStyle/>
          <a:p>
            <a:pPr algn="just">
              <a:lnSpc>
                <a:spcPts val="3236"/>
              </a:lnSpc>
            </a:pPr>
            <a:r>
              <a:rPr lang="en-US" sz="3236" b="1">
                <a:solidFill>
                  <a:srgbClr val="000000"/>
                </a:solidFill>
                <a:latin typeface="Sukar Bold"/>
                <a:ea typeface="Sukar Bold"/>
                <a:cs typeface="Sukar Bold"/>
                <a:sym typeface="Sukar Bold"/>
              </a:rPr>
              <a:t>Analisis performa SHA-3 biasanya dinilai dari beberapa metrik utama:</a:t>
            </a:r>
          </a:p>
          <a:p>
            <a:pPr marL="698779" lvl="1" indent="-349390" algn="just">
              <a:lnSpc>
                <a:spcPts val="3236"/>
              </a:lnSpc>
              <a:buFont typeface="Arial"/>
              <a:buChar char="•"/>
            </a:pPr>
            <a:r>
              <a:rPr lang="en-US" sz="3236" b="1">
                <a:solidFill>
                  <a:srgbClr val="000000"/>
                </a:solidFill>
                <a:latin typeface="Sukar Bold"/>
                <a:ea typeface="Sukar Bold"/>
                <a:cs typeface="Sukar Bold"/>
                <a:sym typeface="Sukar Bold"/>
              </a:rPr>
              <a:t>Throughput: Kecepatan pemrosesan data dalam satuan waktu.</a:t>
            </a:r>
          </a:p>
          <a:p>
            <a:pPr marL="698779" lvl="1" indent="-349390" algn="just">
              <a:lnSpc>
                <a:spcPts val="3236"/>
              </a:lnSpc>
              <a:buFont typeface="Arial"/>
              <a:buChar char="•"/>
            </a:pPr>
            <a:r>
              <a:rPr lang="en-US" sz="3236" b="1">
                <a:solidFill>
                  <a:srgbClr val="000000"/>
                </a:solidFill>
                <a:latin typeface="Sukar Bold"/>
                <a:ea typeface="Sukar Bold"/>
                <a:cs typeface="Sukar Bold"/>
                <a:sym typeface="Sukar Bold"/>
              </a:rPr>
              <a:t>Area (CLB/Slices): Jumlah sumber daya logika yang digunakan di FPGA semakin kecil area, semakin efisien.</a:t>
            </a:r>
          </a:p>
          <a:p>
            <a:pPr marL="698779" lvl="1" indent="-349390" algn="just">
              <a:lnSpc>
                <a:spcPts val="3236"/>
              </a:lnSpc>
              <a:buFont typeface="Arial"/>
              <a:buChar char="•"/>
            </a:pPr>
            <a:r>
              <a:rPr lang="en-US" sz="3236" b="1">
                <a:solidFill>
                  <a:srgbClr val="000000"/>
                </a:solidFill>
                <a:latin typeface="Sukar Bold"/>
                <a:ea typeface="Sukar Bold"/>
                <a:cs typeface="Sukar Bold"/>
                <a:sym typeface="Sukar Bold"/>
              </a:rPr>
              <a:t>Clock Frequency: Semakin tinggi frekuensi, semakin cepat eksekusi, namun konsumsi daya juga meningkat.</a:t>
            </a:r>
          </a:p>
          <a:p>
            <a:pPr marL="698779" lvl="1" indent="-349390" algn="just">
              <a:lnSpc>
                <a:spcPts val="3236"/>
              </a:lnSpc>
              <a:buFont typeface="Arial"/>
              <a:buChar char="•"/>
            </a:pPr>
            <a:r>
              <a:rPr lang="en-US" sz="3236" b="1">
                <a:solidFill>
                  <a:srgbClr val="000000"/>
                </a:solidFill>
                <a:latin typeface="Sukar Bold"/>
                <a:ea typeface="Sukar Bold"/>
                <a:cs typeface="Sukar Bold"/>
                <a:sym typeface="Sukar Bold"/>
              </a:rPr>
              <a:t>Power Consumption: Energi yang digunakan selama proses hashing, penting bagi perangkat portabel dan IoT.</a:t>
            </a:r>
          </a:p>
          <a:p>
            <a:pPr marL="698779" lvl="1" indent="-349390" algn="just">
              <a:lnSpc>
                <a:spcPts val="3236"/>
              </a:lnSpc>
              <a:buFont typeface="Arial"/>
              <a:buChar char="•"/>
            </a:pPr>
            <a:r>
              <a:rPr lang="en-US" sz="3236" b="1">
                <a:solidFill>
                  <a:srgbClr val="000000"/>
                </a:solidFill>
                <a:latin typeface="Sukar Bold"/>
                <a:ea typeface="Sukar Bold"/>
                <a:cs typeface="Sukar Bold"/>
                <a:sym typeface="Sukar Bold"/>
              </a:rPr>
              <a:t>Latency/Delay: Waktu total dari input hingga menghasilkan hash output.</a:t>
            </a:r>
          </a:p>
          <a:p>
            <a:pPr algn="just">
              <a:lnSpc>
                <a:spcPts val="3236"/>
              </a:lnSpc>
            </a:pPr>
            <a:endParaRPr lang="en-US" sz="3236" b="1">
              <a:solidFill>
                <a:srgbClr val="000000"/>
              </a:solidFill>
              <a:latin typeface="Sukar Bold"/>
              <a:ea typeface="Sukar Bold"/>
              <a:cs typeface="Sukar Bold"/>
              <a:sym typeface="Sukar Bold"/>
            </a:endParaRPr>
          </a:p>
          <a:p>
            <a:pPr algn="just">
              <a:lnSpc>
                <a:spcPts val="3236"/>
              </a:lnSpc>
            </a:pPr>
            <a:r>
              <a:rPr lang="en-US" sz="3236" b="1">
                <a:solidFill>
                  <a:srgbClr val="000000"/>
                </a:solidFill>
                <a:latin typeface="Sukar Bold"/>
                <a:ea typeface="Sukar Bold"/>
                <a:cs typeface="Sukar Bold"/>
                <a:sym typeface="Sukar Bold"/>
              </a:rPr>
              <a:t>Tantangan utama adalah menemukan keseimbangan antara keamanan dan performa, terutama pada sistem dengan sumber daya terbatas.</a:t>
            </a:r>
          </a:p>
          <a:p>
            <a:pPr algn="just">
              <a:lnSpc>
                <a:spcPts val="3236"/>
              </a:lnSpc>
            </a:pPr>
            <a:endParaRPr lang="en-US" sz="3236" b="1">
              <a:solidFill>
                <a:srgbClr val="000000"/>
              </a:solidFill>
              <a:latin typeface="Sukar Bold"/>
              <a:ea typeface="Sukar Bold"/>
              <a:cs typeface="Sukar Bold"/>
              <a:sym typeface="Sukar Bold"/>
            </a:endParaRPr>
          </a:p>
        </p:txBody>
      </p:sp>
      <p:sp>
        <p:nvSpPr>
          <p:cNvPr id="31" name="TextBox 31"/>
          <p:cNvSpPr txBox="1"/>
          <p:nvPr/>
        </p:nvSpPr>
        <p:spPr>
          <a:xfrm>
            <a:off x="9790974" y="1538585"/>
            <a:ext cx="6574747" cy="551190"/>
          </a:xfrm>
          <a:prstGeom prst="rect">
            <a:avLst/>
          </a:prstGeom>
        </p:spPr>
        <p:txBody>
          <a:bodyPr lIns="0" tIns="0" rIns="0" bIns="0" rtlCol="0" anchor="t">
            <a:spAutoFit/>
          </a:bodyPr>
          <a:lstStyle/>
          <a:p>
            <a:pPr algn="l">
              <a:lnSpc>
                <a:spcPts val="4298"/>
              </a:lnSpc>
            </a:pPr>
            <a:r>
              <a:rPr lang="en-US" sz="3907" b="1">
                <a:solidFill>
                  <a:srgbClr val="002C4F"/>
                </a:solidFill>
                <a:latin typeface="Sukar Heavy"/>
                <a:ea typeface="Sukar Heavy"/>
                <a:cs typeface="Sukar Heavy"/>
                <a:sym typeface="Sukar Heavy"/>
              </a:rPr>
              <a:t>UNIVERSITAS ESA UNGGUL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6649855" y="9575641"/>
            <a:ext cx="14144497" cy="1340390"/>
            <a:chOff x="0" y="0"/>
            <a:chExt cx="1527407" cy="144743"/>
          </a:xfrm>
        </p:grpSpPr>
        <p:sp>
          <p:nvSpPr>
            <p:cNvPr id="9" name="Freeform 9"/>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0" name="TextBox 10"/>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508591" y="3104099"/>
            <a:ext cx="10208041" cy="1191160"/>
            <a:chOff x="0" y="0"/>
            <a:chExt cx="2688538" cy="313721"/>
          </a:xfrm>
        </p:grpSpPr>
        <p:sp>
          <p:nvSpPr>
            <p:cNvPr id="12" name="Freeform 12"/>
            <p:cNvSpPr/>
            <p:nvPr/>
          </p:nvSpPr>
          <p:spPr>
            <a:xfrm>
              <a:off x="0" y="0"/>
              <a:ext cx="2688538" cy="313721"/>
            </a:xfrm>
            <a:custGeom>
              <a:avLst/>
              <a:gdLst/>
              <a:ahLst/>
              <a:cxnLst/>
              <a:rect l="l" t="t" r="r" b="b"/>
              <a:pathLst>
                <a:path w="2688538" h="313721">
                  <a:moveTo>
                    <a:pt x="54606" y="0"/>
                  </a:moveTo>
                  <a:lnTo>
                    <a:pt x="2633932" y="0"/>
                  </a:lnTo>
                  <a:cubicBezTo>
                    <a:pt x="2648414" y="0"/>
                    <a:pt x="2662303" y="5753"/>
                    <a:pt x="2672544" y="15994"/>
                  </a:cubicBezTo>
                  <a:cubicBezTo>
                    <a:pt x="2682785" y="26234"/>
                    <a:pt x="2688538" y="40123"/>
                    <a:pt x="2688538" y="54606"/>
                  </a:cubicBezTo>
                  <a:lnTo>
                    <a:pt x="2688538" y="259115"/>
                  </a:lnTo>
                  <a:cubicBezTo>
                    <a:pt x="2688538" y="289273"/>
                    <a:pt x="2664090" y="313721"/>
                    <a:pt x="2633932" y="313721"/>
                  </a:cubicBezTo>
                  <a:lnTo>
                    <a:pt x="54606" y="313721"/>
                  </a:lnTo>
                  <a:cubicBezTo>
                    <a:pt x="24448" y="313721"/>
                    <a:pt x="0" y="289273"/>
                    <a:pt x="0" y="259115"/>
                  </a:cubicBezTo>
                  <a:lnTo>
                    <a:pt x="0" y="54606"/>
                  </a:lnTo>
                  <a:cubicBezTo>
                    <a:pt x="0" y="24448"/>
                    <a:pt x="24448" y="0"/>
                    <a:pt x="54606" y="0"/>
                  </a:cubicBezTo>
                  <a:close/>
                </a:path>
              </a:pathLst>
            </a:custGeom>
            <a:solidFill>
              <a:srgbClr val="002C4F"/>
            </a:solidFill>
          </p:spPr>
        </p:sp>
        <p:sp>
          <p:nvSpPr>
            <p:cNvPr id="13" name="TextBox 13"/>
            <p:cNvSpPr txBox="1"/>
            <p:nvPr/>
          </p:nvSpPr>
          <p:spPr>
            <a:xfrm>
              <a:off x="0" y="-38100"/>
              <a:ext cx="2688538" cy="351821"/>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3400147" y="1941160"/>
            <a:ext cx="11706781" cy="571050"/>
          </a:xfrm>
          <a:prstGeom prst="rect">
            <a:avLst/>
          </a:prstGeom>
        </p:spPr>
        <p:txBody>
          <a:bodyPr lIns="0" tIns="0" rIns="0" bIns="0" rtlCol="0" anchor="t">
            <a:spAutoFit/>
          </a:bodyPr>
          <a:lstStyle/>
          <a:p>
            <a:pPr algn="ctr">
              <a:lnSpc>
                <a:spcPts val="4232"/>
              </a:lnSpc>
            </a:pPr>
            <a:r>
              <a:rPr lang="en-US" sz="4232" b="1">
                <a:solidFill>
                  <a:srgbClr val="000000"/>
                </a:solidFill>
                <a:latin typeface="Inter Ultra-Bold"/>
                <a:ea typeface="Inter Ultra-Bold"/>
                <a:cs typeface="Inter Ultra-Bold"/>
                <a:sym typeface="Inter Ultra-Bold"/>
              </a:rPr>
              <a:t>TINJAUAN PENELITIAN TERDAHULU</a:t>
            </a:r>
          </a:p>
        </p:txBody>
      </p:sp>
      <p:sp>
        <p:nvSpPr>
          <p:cNvPr id="15" name="Freeform 15"/>
          <p:cNvSpPr/>
          <p:nvPr/>
        </p:nvSpPr>
        <p:spPr>
          <a:xfrm>
            <a:off x="15106928" y="1750371"/>
            <a:ext cx="976801" cy="976801"/>
          </a:xfrm>
          <a:custGeom>
            <a:avLst/>
            <a:gdLst/>
            <a:ahLst/>
            <a:cxnLst/>
            <a:rect l="l" t="t" r="r" b="b"/>
            <a:pathLst>
              <a:path w="976801" h="976801">
                <a:moveTo>
                  <a:pt x="0" y="0"/>
                </a:moveTo>
                <a:lnTo>
                  <a:pt x="976800" y="0"/>
                </a:lnTo>
                <a:lnTo>
                  <a:pt x="976800" y="976800"/>
                </a:lnTo>
                <a:lnTo>
                  <a:pt x="0" y="976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a:off x="2208235" y="1750371"/>
            <a:ext cx="976801" cy="976801"/>
          </a:xfrm>
          <a:custGeom>
            <a:avLst/>
            <a:gdLst/>
            <a:ahLst/>
            <a:cxnLst/>
            <a:rect l="l" t="t" r="r" b="b"/>
            <a:pathLst>
              <a:path w="976801" h="976801">
                <a:moveTo>
                  <a:pt x="0" y="0"/>
                </a:moveTo>
                <a:lnTo>
                  <a:pt x="976801" y="0"/>
                </a:lnTo>
                <a:lnTo>
                  <a:pt x="976801" y="976800"/>
                </a:lnTo>
                <a:lnTo>
                  <a:pt x="0" y="976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1500449" y="637205"/>
            <a:ext cx="6574747" cy="551190"/>
          </a:xfrm>
          <a:prstGeom prst="rect">
            <a:avLst/>
          </a:prstGeom>
        </p:spPr>
        <p:txBody>
          <a:bodyPr lIns="0" tIns="0" rIns="0" bIns="0" rtlCol="0" anchor="t">
            <a:spAutoFit/>
          </a:bodyPr>
          <a:lstStyle/>
          <a:p>
            <a:pPr algn="l">
              <a:lnSpc>
                <a:spcPts val="4298"/>
              </a:lnSpc>
            </a:pPr>
            <a:r>
              <a:rPr lang="en-US" sz="3907" b="1">
                <a:solidFill>
                  <a:srgbClr val="002C4F"/>
                </a:solidFill>
                <a:latin typeface="Sukar Heavy"/>
                <a:ea typeface="Sukar Heavy"/>
                <a:cs typeface="Sukar Heavy"/>
                <a:sym typeface="Sukar Heavy"/>
              </a:rPr>
              <a:t>UNIVERSITAS ESA UNGGUL</a:t>
            </a:r>
          </a:p>
        </p:txBody>
      </p:sp>
      <p:grpSp>
        <p:nvGrpSpPr>
          <p:cNvPr id="18" name="Group 18"/>
          <p:cNvGrpSpPr/>
          <p:nvPr/>
        </p:nvGrpSpPr>
        <p:grpSpPr>
          <a:xfrm>
            <a:off x="1626543" y="5677616"/>
            <a:ext cx="10208041" cy="1191160"/>
            <a:chOff x="0" y="0"/>
            <a:chExt cx="2688538" cy="313721"/>
          </a:xfrm>
        </p:grpSpPr>
        <p:sp>
          <p:nvSpPr>
            <p:cNvPr id="19" name="Freeform 19"/>
            <p:cNvSpPr/>
            <p:nvPr/>
          </p:nvSpPr>
          <p:spPr>
            <a:xfrm>
              <a:off x="0" y="0"/>
              <a:ext cx="2688538" cy="313721"/>
            </a:xfrm>
            <a:custGeom>
              <a:avLst/>
              <a:gdLst/>
              <a:ahLst/>
              <a:cxnLst/>
              <a:rect l="l" t="t" r="r" b="b"/>
              <a:pathLst>
                <a:path w="2688538" h="313721">
                  <a:moveTo>
                    <a:pt x="54606" y="0"/>
                  </a:moveTo>
                  <a:lnTo>
                    <a:pt x="2633932" y="0"/>
                  </a:lnTo>
                  <a:cubicBezTo>
                    <a:pt x="2648414" y="0"/>
                    <a:pt x="2662303" y="5753"/>
                    <a:pt x="2672544" y="15994"/>
                  </a:cubicBezTo>
                  <a:cubicBezTo>
                    <a:pt x="2682785" y="26234"/>
                    <a:pt x="2688538" y="40123"/>
                    <a:pt x="2688538" y="54606"/>
                  </a:cubicBezTo>
                  <a:lnTo>
                    <a:pt x="2688538" y="259115"/>
                  </a:lnTo>
                  <a:cubicBezTo>
                    <a:pt x="2688538" y="289273"/>
                    <a:pt x="2664090" y="313721"/>
                    <a:pt x="2633932" y="313721"/>
                  </a:cubicBezTo>
                  <a:lnTo>
                    <a:pt x="54606" y="313721"/>
                  </a:lnTo>
                  <a:cubicBezTo>
                    <a:pt x="24448" y="313721"/>
                    <a:pt x="0" y="289273"/>
                    <a:pt x="0" y="259115"/>
                  </a:cubicBezTo>
                  <a:lnTo>
                    <a:pt x="0" y="54606"/>
                  </a:lnTo>
                  <a:cubicBezTo>
                    <a:pt x="0" y="24448"/>
                    <a:pt x="24448" y="0"/>
                    <a:pt x="54606" y="0"/>
                  </a:cubicBezTo>
                  <a:close/>
                </a:path>
              </a:pathLst>
            </a:custGeom>
            <a:solidFill>
              <a:srgbClr val="002C4F"/>
            </a:solidFill>
          </p:spPr>
        </p:sp>
        <p:sp>
          <p:nvSpPr>
            <p:cNvPr id="20" name="TextBox 20"/>
            <p:cNvSpPr txBox="1"/>
            <p:nvPr/>
          </p:nvSpPr>
          <p:spPr>
            <a:xfrm>
              <a:off x="0" y="-38100"/>
              <a:ext cx="2688538" cy="351821"/>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5387287" y="4400731"/>
            <a:ext cx="10208041" cy="1191160"/>
            <a:chOff x="0" y="0"/>
            <a:chExt cx="2688538" cy="313721"/>
          </a:xfrm>
        </p:grpSpPr>
        <p:sp>
          <p:nvSpPr>
            <p:cNvPr id="22" name="Freeform 22"/>
            <p:cNvSpPr/>
            <p:nvPr/>
          </p:nvSpPr>
          <p:spPr>
            <a:xfrm>
              <a:off x="0" y="0"/>
              <a:ext cx="2688538" cy="313721"/>
            </a:xfrm>
            <a:custGeom>
              <a:avLst/>
              <a:gdLst/>
              <a:ahLst/>
              <a:cxnLst/>
              <a:rect l="l" t="t" r="r" b="b"/>
              <a:pathLst>
                <a:path w="2688538" h="313721">
                  <a:moveTo>
                    <a:pt x="54606" y="0"/>
                  </a:moveTo>
                  <a:lnTo>
                    <a:pt x="2633932" y="0"/>
                  </a:lnTo>
                  <a:cubicBezTo>
                    <a:pt x="2648414" y="0"/>
                    <a:pt x="2662303" y="5753"/>
                    <a:pt x="2672544" y="15994"/>
                  </a:cubicBezTo>
                  <a:cubicBezTo>
                    <a:pt x="2682785" y="26234"/>
                    <a:pt x="2688538" y="40123"/>
                    <a:pt x="2688538" y="54606"/>
                  </a:cubicBezTo>
                  <a:lnTo>
                    <a:pt x="2688538" y="259115"/>
                  </a:lnTo>
                  <a:cubicBezTo>
                    <a:pt x="2688538" y="289273"/>
                    <a:pt x="2664090" y="313721"/>
                    <a:pt x="2633932" y="313721"/>
                  </a:cubicBezTo>
                  <a:lnTo>
                    <a:pt x="54606" y="313721"/>
                  </a:lnTo>
                  <a:cubicBezTo>
                    <a:pt x="24448" y="313721"/>
                    <a:pt x="0" y="289273"/>
                    <a:pt x="0" y="259115"/>
                  </a:cubicBezTo>
                  <a:lnTo>
                    <a:pt x="0" y="54606"/>
                  </a:lnTo>
                  <a:cubicBezTo>
                    <a:pt x="0" y="24448"/>
                    <a:pt x="24448" y="0"/>
                    <a:pt x="54606" y="0"/>
                  </a:cubicBezTo>
                  <a:close/>
                </a:path>
              </a:pathLst>
            </a:custGeom>
            <a:solidFill>
              <a:srgbClr val="002C4F"/>
            </a:solidFill>
          </p:spPr>
        </p:sp>
        <p:sp>
          <p:nvSpPr>
            <p:cNvPr id="23" name="TextBox 23"/>
            <p:cNvSpPr txBox="1"/>
            <p:nvPr/>
          </p:nvSpPr>
          <p:spPr>
            <a:xfrm>
              <a:off x="0" y="-38100"/>
              <a:ext cx="2688538" cy="351821"/>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7209339" y="2928789"/>
            <a:ext cx="692554" cy="69255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5205396" y="6956738"/>
            <a:ext cx="10208041" cy="1191160"/>
            <a:chOff x="0" y="0"/>
            <a:chExt cx="2688538" cy="313721"/>
          </a:xfrm>
        </p:grpSpPr>
        <p:sp>
          <p:nvSpPr>
            <p:cNvPr id="28" name="Freeform 28"/>
            <p:cNvSpPr/>
            <p:nvPr/>
          </p:nvSpPr>
          <p:spPr>
            <a:xfrm>
              <a:off x="0" y="0"/>
              <a:ext cx="2688538" cy="313721"/>
            </a:xfrm>
            <a:custGeom>
              <a:avLst/>
              <a:gdLst/>
              <a:ahLst/>
              <a:cxnLst/>
              <a:rect l="l" t="t" r="r" b="b"/>
              <a:pathLst>
                <a:path w="2688538" h="313721">
                  <a:moveTo>
                    <a:pt x="54606" y="0"/>
                  </a:moveTo>
                  <a:lnTo>
                    <a:pt x="2633932" y="0"/>
                  </a:lnTo>
                  <a:cubicBezTo>
                    <a:pt x="2648414" y="0"/>
                    <a:pt x="2662303" y="5753"/>
                    <a:pt x="2672544" y="15994"/>
                  </a:cubicBezTo>
                  <a:cubicBezTo>
                    <a:pt x="2682785" y="26234"/>
                    <a:pt x="2688538" y="40123"/>
                    <a:pt x="2688538" y="54606"/>
                  </a:cubicBezTo>
                  <a:lnTo>
                    <a:pt x="2688538" y="259115"/>
                  </a:lnTo>
                  <a:cubicBezTo>
                    <a:pt x="2688538" y="289273"/>
                    <a:pt x="2664090" y="313721"/>
                    <a:pt x="2633932" y="313721"/>
                  </a:cubicBezTo>
                  <a:lnTo>
                    <a:pt x="54606" y="313721"/>
                  </a:lnTo>
                  <a:cubicBezTo>
                    <a:pt x="24448" y="313721"/>
                    <a:pt x="0" y="289273"/>
                    <a:pt x="0" y="259115"/>
                  </a:cubicBezTo>
                  <a:lnTo>
                    <a:pt x="0" y="54606"/>
                  </a:lnTo>
                  <a:cubicBezTo>
                    <a:pt x="0" y="24448"/>
                    <a:pt x="24448" y="0"/>
                    <a:pt x="54606" y="0"/>
                  </a:cubicBezTo>
                  <a:close/>
                </a:path>
              </a:pathLst>
            </a:custGeom>
            <a:solidFill>
              <a:srgbClr val="002C4F"/>
            </a:solidFill>
          </p:spPr>
        </p:sp>
        <p:sp>
          <p:nvSpPr>
            <p:cNvPr id="29" name="TextBox 29"/>
            <p:cNvSpPr txBox="1"/>
            <p:nvPr/>
          </p:nvSpPr>
          <p:spPr>
            <a:xfrm>
              <a:off x="0" y="-38100"/>
              <a:ext cx="2688538" cy="351821"/>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7867154" y="8235861"/>
            <a:ext cx="10208041" cy="1191160"/>
            <a:chOff x="0" y="0"/>
            <a:chExt cx="2688538" cy="313721"/>
          </a:xfrm>
        </p:grpSpPr>
        <p:sp>
          <p:nvSpPr>
            <p:cNvPr id="31" name="Freeform 31"/>
            <p:cNvSpPr/>
            <p:nvPr/>
          </p:nvSpPr>
          <p:spPr>
            <a:xfrm>
              <a:off x="0" y="0"/>
              <a:ext cx="2688538" cy="313721"/>
            </a:xfrm>
            <a:custGeom>
              <a:avLst/>
              <a:gdLst/>
              <a:ahLst/>
              <a:cxnLst/>
              <a:rect l="l" t="t" r="r" b="b"/>
              <a:pathLst>
                <a:path w="2688538" h="313721">
                  <a:moveTo>
                    <a:pt x="54606" y="0"/>
                  </a:moveTo>
                  <a:lnTo>
                    <a:pt x="2633932" y="0"/>
                  </a:lnTo>
                  <a:cubicBezTo>
                    <a:pt x="2648414" y="0"/>
                    <a:pt x="2662303" y="5753"/>
                    <a:pt x="2672544" y="15994"/>
                  </a:cubicBezTo>
                  <a:cubicBezTo>
                    <a:pt x="2682785" y="26234"/>
                    <a:pt x="2688538" y="40123"/>
                    <a:pt x="2688538" y="54606"/>
                  </a:cubicBezTo>
                  <a:lnTo>
                    <a:pt x="2688538" y="259115"/>
                  </a:lnTo>
                  <a:cubicBezTo>
                    <a:pt x="2688538" y="289273"/>
                    <a:pt x="2664090" y="313721"/>
                    <a:pt x="2633932" y="313721"/>
                  </a:cubicBezTo>
                  <a:lnTo>
                    <a:pt x="54606" y="313721"/>
                  </a:lnTo>
                  <a:cubicBezTo>
                    <a:pt x="24448" y="313721"/>
                    <a:pt x="0" y="289273"/>
                    <a:pt x="0" y="259115"/>
                  </a:cubicBezTo>
                  <a:lnTo>
                    <a:pt x="0" y="54606"/>
                  </a:lnTo>
                  <a:cubicBezTo>
                    <a:pt x="0" y="24448"/>
                    <a:pt x="24448" y="0"/>
                    <a:pt x="54606" y="0"/>
                  </a:cubicBezTo>
                  <a:close/>
                </a:path>
              </a:pathLst>
            </a:custGeom>
            <a:solidFill>
              <a:srgbClr val="002C4F"/>
            </a:solidFill>
          </p:spPr>
        </p:sp>
        <p:sp>
          <p:nvSpPr>
            <p:cNvPr id="32" name="TextBox 32"/>
            <p:cNvSpPr txBox="1"/>
            <p:nvPr/>
          </p:nvSpPr>
          <p:spPr>
            <a:xfrm>
              <a:off x="0" y="-38100"/>
              <a:ext cx="2688538" cy="351821"/>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7508591" y="3341956"/>
            <a:ext cx="9886008" cy="801600"/>
          </a:xfrm>
          <a:prstGeom prst="rect">
            <a:avLst/>
          </a:prstGeom>
        </p:spPr>
        <p:txBody>
          <a:bodyPr lIns="0" tIns="0" rIns="0" bIns="0" rtlCol="0" anchor="t">
            <a:spAutoFit/>
          </a:bodyPr>
          <a:lstStyle/>
          <a:p>
            <a:pPr algn="ctr">
              <a:lnSpc>
                <a:spcPts val="2133"/>
              </a:lnSpc>
            </a:pPr>
            <a:r>
              <a:rPr lang="en-US" sz="2133">
                <a:solidFill>
                  <a:srgbClr val="FFFFFF"/>
                </a:solidFill>
                <a:latin typeface="Sukar"/>
                <a:ea typeface="Sukar"/>
                <a:cs typeface="Sukar"/>
                <a:sym typeface="Sukar"/>
              </a:rPr>
              <a:t>Menurut Jararweh et al. (2012), Melakukan evaluasi hardware kandidat SHA-3 pada FPGA Virtex-5/6/7. Hasilnya, Keccak menunjukkan performa terbaik dalam hal Clock Frequency dan Throughput, lebih unggul dari kandidat lain seperti Blake dan Groestl.</a:t>
            </a:r>
          </a:p>
        </p:txBody>
      </p:sp>
      <p:sp>
        <p:nvSpPr>
          <p:cNvPr id="34" name="TextBox 34"/>
          <p:cNvSpPr txBox="1"/>
          <p:nvPr/>
        </p:nvSpPr>
        <p:spPr>
          <a:xfrm>
            <a:off x="5205396" y="4619323"/>
            <a:ext cx="9886008" cy="801600"/>
          </a:xfrm>
          <a:prstGeom prst="rect">
            <a:avLst/>
          </a:prstGeom>
        </p:spPr>
        <p:txBody>
          <a:bodyPr lIns="0" tIns="0" rIns="0" bIns="0" rtlCol="0" anchor="t">
            <a:spAutoFit/>
          </a:bodyPr>
          <a:lstStyle/>
          <a:p>
            <a:pPr algn="ctr">
              <a:lnSpc>
                <a:spcPts val="2133"/>
              </a:lnSpc>
            </a:pPr>
            <a:r>
              <a:rPr lang="en-US" sz="2133">
                <a:solidFill>
                  <a:srgbClr val="FFFFFF"/>
                </a:solidFill>
                <a:latin typeface="Sukar"/>
                <a:ea typeface="Sukar"/>
                <a:cs typeface="Sukar"/>
                <a:sym typeface="Sukar"/>
              </a:rPr>
              <a:t>Menurut Kim et al. (2021) mengoptimasi proses chaining pada SHA-3 untuk mikrokontroler 8-bit. Metode ini meningkatkan performa hingga 26,1% dibandingkan implementasi sebelumnya, tanpa menurunkan keamanan algoritma.</a:t>
            </a:r>
          </a:p>
        </p:txBody>
      </p:sp>
      <p:grpSp>
        <p:nvGrpSpPr>
          <p:cNvPr id="35" name="Group 35"/>
          <p:cNvGrpSpPr/>
          <p:nvPr/>
        </p:nvGrpSpPr>
        <p:grpSpPr>
          <a:xfrm>
            <a:off x="14976831" y="4400731"/>
            <a:ext cx="692554" cy="69255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1787560" y="5896209"/>
            <a:ext cx="9886008" cy="801600"/>
          </a:xfrm>
          <a:prstGeom prst="rect">
            <a:avLst/>
          </a:prstGeom>
        </p:spPr>
        <p:txBody>
          <a:bodyPr lIns="0" tIns="0" rIns="0" bIns="0" rtlCol="0" anchor="t">
            <a:spAutoFit/>
          </a:bodyPr>
          <a:lstStyle/>
          <a:p>
            <a:pPr algn="ctr">
              <a:lnSpc>
                <a:spcPts val="2133"/>
              </a:lnSpc>
            </a:pPr>
            <a:r>
              <a:rPr lang="en-US" sz="2133">
                <a:solidFill>
                  <a:srgbClr val="FFFFFF"/>
                </a:solidFill>
                <a:latin typeface="Sukar"/>
                <a:ea typeface="Sukar"/>
                <a:cs typeface="Sukar"/>
                <a:sym typeface="Sukar"/>
              </a:rPr>
              <a:t>Menurut Chandran &amp; Manuel (2016) Mengusulkan arsitektur MUX pada FPGA Spartan-6 untuk menghemat area. Hasilnya, penggunaan area menurun drastis, namun waktu delay meningkat.</a:t>
            </a:r>
          </a:p>
        </p:txBody>
      </p:sp>
      <p:grpSp>
        <p:nvGrpSpPr>
          <p:cNvPr id="39" name="Group 39"/>
          <p:cNvGrpSpPr/>
          <p:nvPr/>
        </p:nvGrpSpPr>
        <p:grpSpPr>
          <a:xfrm>
            <a:off x="5205396" y="7628899"/>
            <a:ext cx="692554" cy="692554"/>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2" name="TextBox 42"/>
          <p:cNvSpPr txBox="1"/>
          <p:nvPr/>
        </p:nvSpPr>
        <p:spPr>
          <a:xfrm>
            <a:off x="6325397" y="7173576"/>
            <a:ext cx="8997711" cy="801600"/>
          </a:xfrm>
          <a:prstGeom prst="rect">
            <a:avLst/>
          </a:prstGeom>
        </p:spPr>
        <p:txBody>
          <a:bodyPr lIns="0" tIns="0" rIns="0" bIns="0" rtlCol="0" anchor="t">
            <a:spAutoFit/>
          </a:bodyPr>
          <a:lstStyle/>
          <a:p>
            <a:pPr algn="ctr">
              <a:lnSpc>
                <a:spcPts val="2133"/>
              </a:lnSpc>
            </a:pPr>
            <a:r>
              <a:rPr lang="en-US" sz="2133">
                <a:solidFill>
                  <a:srgbClr val="FFFFFF"/>
                </a:solidFill>
                <a:latin typeface="Sukar"/>
                <a:ea typeface="Sukar"/>
                <a:cs typeface="Sukar"/>
                <a:sym typeface="Sukar"/>
              </a:rPr>
              <a:t>Menurut Kaps et al. (2011) Melakukan implementasi ringan (lightweight) pada FPGA. Hasilnya, BLAKE-256 unggul dalam Throughput per Area, sedangkan Skein paling lemah.</a:t>
            </a:r>
          </a:p>
        </p:txBody>
      </p:sp>
      <p:sp>
        <p:nvSpPr>
          <p:cNvPr id="43" name="TextBox 43"/>
          <p:cNvSpPr txBox="1"/>
          <p:nvPr/>
        </p:nvSpPr>
        <p:spPr>
          <a:xfrm>
            <a:off x="9704096" y="8452699"/>
            <a:ext cx="7851520" cy="801600"/>
          </a:xfrm>
          <a:prstGeom prst="rect">
            <a:avLst/>
          </a:prstGeom>
        </p:spPr>
        <p:txBody>
          <a:bodyPr lIns="0" tIns="0" rIns="0" bIns="0" rtlCol="0" anchor="t">
            <a:spAutoFit/>
          </a:bodyPr>
          <a:lstStyle/>
          <a:p>
            <a:pPr algn="ctr">
              <a:lnSpc>
                <a:spcPts val="2133"/>
              </a:lnSpc>
            </a:pPr>
            <a:r>
              <a:rPr lang="en-US" sz="2133">
                <a:solidFill>
                  <a:srgbClr val="FFFFFF"/>
                </a:solidFill>
                <a:latin typeface="Sukar"/>
                <a:ea typeface="Sukar"/>
                <a:cs typeface="Sukar"/>
                <a:sym typeface="Sukar"/>
              </a:rPr>
              <a:t>Menurut NIST (2015) Menetapkan standar resmi SHA-3 dengan keamanan tinggi terhadap serangan kolisi dan fleksibilitas tinggi untuk berbagai ukuran output.</a:t>
            </a:r>
          </a:p>
        </p:txBody>
      </p:sp>
      <p:grpSp>
        <p:nvGrpSpPr>
          <p:cNvPr id="44" name="Group 44"/>
          <p:cNvGrpSpPr/>
          <p:nvPr/>
        </p:nvGrpSpPr>
        <p:grpSpPr>
          <a:xfrm>
            <a:off x="7867154" y="8928949"/>
            <a:ext cx="692554" cy="69255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AB0B"/>
            </a:solidFill>
          </p:spPr>
        </p:sp>
        <p:sp>
          <p:nvSpPr>
            <p:cNvPr id="46" name="TextBox 4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473845" y="8204909"/>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6649855" y="9575641"/>
            <a:ext cx="14144497" cy="1340390"/>
            <a:chOff x="0" y="0"/>
            <a:chExt cx="1527407" cy="144743"/>
          </a:xfrm>
        </p:grpSpPr>
        <p:sp>
          <p:nvSpPr>
            <p:cNvPr id="9" name="Freeform 9"/>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0" name="TextBox 10"/>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89027">
            <a:off x="15814155" y="-868118"/>
            <a:ext cx="4947690" cy="3086100"/>
            <a:chOff x="0" y="0"/>
            <a:chExt cx="1303095" cy="812800"/>
          </a:xfrm>
        </p:grpSpPr>
        <p:sp>
          <p:nvSpPr>
            <p:cNvPr id="12" name="Freeform 12"/>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13" name="TextBox 13"/>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2818405" y="-292640"/>
            <a:ext cx="14144497" cy="1340390"/>
            <a:chOff x="0" y="0"/>
            <a:chExt cx="1527407" cy="144743"/>
          </a:xfrm>
        </p:grpSpPr>
        <p:sp>
          <p:nvSpPr>
            <p:cNvPr id="15" name="Freeform 15"/>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F5AB0B"/>
            </a:solidFill>
          </p:spPr>
        </p:sp>
        <p:sp>
          <p:nvSpPr>
            <p:cNvPr id="16" name="TextBox 16"/>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044319" y="-670195"/>
            <a:ext cx="14144497" cy="1340390"/>
            <a:chOff x="0" y="0"/>
            <a:chExt cx="1527407" cy="144743"/>
          </a:xfrm>
        </p:grpSpPr>
        <p:sp>
          <p:nvSpPr>
            <p:cNvPr id="18" name="Freeform 18"/>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9" name="TextBox 19"/>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366985" y="3155769"/>
            <a:ext cx="7164561" cy="6100903"/>
            <a:chOff x="0" y="0"/>
            <a:chExt cx="1109978" cy="945189"/>
          </a:xfrm>
        </p:grpSpPr>
        <p:sp>
          <p:nvSpPr>
            <p:cNvPr id="21" name="Freeform 21"/>
            <p:cNvSpPr/>
            <p:nvPr/>
          </p:nvSpPr>
          <p:spPr>
            <a:xfrm>
              <a:off x="0" y="0"/>
              <a:ext cx="1109978" cy="945189"/>
            </a:xfrm>
            <a:custGeom>
              <a:avLst/>
              <a:gdLst/>
              <a:ahLst/>
              <a:cxnLst/>
              <a:rect l="l" t="t" r="r" b="b"/>
              <a:pathLst>
                <a:path w="1109978" h="945189">
                  <a:moveTo>
                    <a:pt x="27015" y="0"/>
                  </a:moveTo>
                  <a:lnTo>
                    <a:pt x="1082963" y="0"/>
                  </a:lnTo>
                  <a:cubicBezTo>
                    <a:pt x="1090128" y="0"/>
                    <a:pt x="1096999" y="2846"/>
                    <a:pt x="1102066" y="7912"/>
                  </a:cubicBezTo>
                  <a:cubicBezTo>
                    <a:pt x="1107132" y="12979"/>
                    <a:pt x="1109978" y="19850"/>
                    <a:pt x="1109978" y="27015"/>
                  </a:cubicBezTo>
                  <a:lnTo>
                    <a:pt x="1109978" y="918175"/>
                  </a:lnTo>
                  <a:cubicBezTo>
                    <a:pt x="1109978" y="933095"/>
                    <a:pt x="1097883" y="945189"/>
                    <a:pt x="1082963" y="945189"/>
                  </a:cubicBezTo>
                  <a:lnTo>
                    <a:pt x="27015" y="945189"/>
                  </a:lnTo>
                  <a:cubicBezTo>
                    <a:pt x="19850" y="945189"/>
                    <a:pt x="12979" y="942343"/>
                    <a:pt x="7912" y="937277"/>
                  </a:cubicBezTo>
                  <a:cubicBezTo>
                    <a:pt x="2846" y="932211"/>
                    <a:pt x="0" y="925340"/>
                    <a:pt x="0" y="918175"/>
                  </a:cubicBezTo>
                  <a:lnTo>
                    <a:pt x="0" y="27015"/>
                  </a:lnTo>
                  <a:cubicBezTo>
                    <a:pt x="0" y="19850"/>
                    <a:pt x="2846" y="12979"/>
                    <a:pt x="7912" y="7912"/>
                  </a:cubicBezTo>
                  <a:cubicBezTo>
                    <a:pt x="12979" y="2846"/>
                    <a:pt x="19850" y="0"/>
                    <a:pt x="27015" y="0"/>
                  </a:cubicBezTo>
                  <a:close/>
                </a:path>
              </a:pathLst>
            </a:custGeom>
            <a:blipFill>
              <a:blip r:embed="rId2"/>
              <a:stretch>
                <a:fillRect l="-21407" r="-21407"/>
              </a:stretch>
            </a:blipFill>
          </p:spPr>
        </p:sp>
      </p:grpSp>
      <p:sp>
        <p:nvSpPr>
          <p:cNvPr id="22" name="Freeform 22"/>
          <p:cNvSpPr/>
          <p:nvPr/>
        </p:nvSpPr>
        <p:spPr>
          <a:xfrm>
            <a:off x="13647048" y="9575641"/>
            <a:ext cx="1194249" cy="395188"/>
          </a:xfrm>
          <a:custGeom>
            <a:avLst/>
            <a:gdLst/>
            <a:ahLst/>
            <a:cxnLst/>
            <a:rect l="l" t="t" r="r" b="b"/>
            <a:pathLst>
              <a:path w="1194249" h="395188">
                <a:moveTo>
                  <a:pt x="0" y="0"/>
                </a:moveTo>
                <a:lnTo>
                  <a:pt x="1194250" y="0"/>
                </a:lnTo>
                <a:lnTo>
                  <a:pt x="1194250" y="395188"/>
                </a:lnTo>
                <a:lnTo>
                  <a:pt x="0" y="3951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TextBox 23"/>
          <p:cNvSpPr txBox="1"/>
          <p:nvPr/>
        </p:nvSpPr>
        <p:spPr>
          <a:xfrm>
            <a:off x="1028700" y="1281989"/>
            <a:ext cx="5825268" cy="1166285"/>
          </a:xfrm>
          <a:prstGeom prst="rect">
            <a:avLst/>
          </a:prstGeom>
        </p:spPr>
        <p:txBody>
          <a:bodyPr lIns="0" tIns="0" rIns="0" bIns="0" rtlCol="0" anchor="t">
            <a:spAutoFit/>
          </a:bodyPr>
          <a:lstStyle/>
          <a:p>
            <a:pPr algn="l">
              <a:lnSpc>
                <a:spcPts val="4495"/>
              </a:lnSpc>
            </a:pPr>
            <a:r>
              <a:rPr lang="en-US" sz="4495" b="1">
                <a:solidFill>
                  <a:srgbClr val="000000"/>
                </a:solidFill>
                <a:latin typeface="Inter Ultra-Bold"/>
                <a:ea typeface="Inter Ultra-Bold"/>
                <a:cs typeface="Inter Ultra-Bold"/>
                <a:sym typeface="Inter Ultra-Bold"/>
              </a:rPr>
              <a:t>ANALISIS DAN ARAH PENELLITIAN</a:t>
            </a:r>
          </a:p>
        </p:txBody>
      </p:sp>
      <p:sp>
        <p:nvSpPr>
          <p:cNvPr id="24" name="TextBox 24"/>
          <p:cNvSpPr txBox="1"/>
          <p:nvPr/>
        </p:nvSpPr>
        <p:spPr>
          <a:xfrm>
            <a:off x="1237050" y="2846309"/>
            <a:ext cx="8394080" cy="6427291"/>
          </a:xfrm>
          <a:prstGeom prst="rect">
            <a:avLst/>
          </a:prstGeom>
        </p:spPr>
        <p:txBody>
          <a:bodyPr lIns="0" tIns="0" rIns="0" bIns="0" rtlCol="0" anchor="t">
            <a:spAutoFit/>
          </a:bodyPr>
          <a:lstStyle/>
          <a:p>
            <a:pPr marL="617729" lvl="1" indent="-308865" algn="just">
              <a:lnSpc>
                <a:spcPts val="2861"/>
              </a:lnSpc>
              <a:buFont typeface="Arial"/>
              <a:buChar char="•"/>
            </a:pPr>
            <a:r>
              <a:rPr lang="en-US" sz="2861" b="1">
                <a:solidFill>
                  <a:srgbClr val="000000"/>
                </a:solidFill>
                <a:latin typeface="Sukar Bold"/>
                <a:ea typeface="Sukar Bold"/>
                <a:cs typeface="Sukar Bold"/>
                <a:sym typeface="Sukar Bold"/>
              </a:rPr>
              <a:t>Penelitian hardware cenderung menekankan efisiensi area dan kecepatan (throughput).</a:t>
            </a:r>
          </a:p>
          <a:p>
            <a:pPr marL="617729" lvl="1" indent="-308865" algn="just">
              <a:lnSpc>
                <a:spcPts val="2861"/>
              </a:lnSpc>
              <a:buFont typeface="Arial"/>
              <a:buChar char="•"/>
            </a:pPr>
            <a:r>
              <a:rPr lang="en-US" sz="2861" b="1">
                <a:solidFill>
                  <a:srgbClr val="000000"/>
                </a:solidFill>
                <a:latin typeface="Sukar Bold"/>
                <a:ea typeface="Sukar Bold"/>
                <a:cs typeface="Sukar Bold"/>
                <a:sym typeface="Sukar Bold"/>
              </a:rPr>
              <a:t>Sementara itu, penelitian berbasis software lebih fokus pada optimasi daya dan penggunaan memori.</a:t>
            </a:r>
          </a:p>
          <a:p>
            <a:pPr marL="617729" lvl="1" indent="-308865" algn="just">
              <a:lnSpc>
                <a:spcPts val="2861"/>
              </a:lnSpc>
              <a:buFont typeface="Arial"/>
              <a:buChar char="•"/>
            </a:pPr>
            <a:r>
              <a:rPr lang="en-US" sz="2861" b="1">
                <a:solidFill>
                  <a:srgbClr val="000000"/>
                </a:solidFill>
                <a:latin typeface="Sukar Bold"/>
                <a:ea typeface="Sukar Bold"/>
                <a:cs typeface="Sukar Bold"/>
                <a:sym typeface="Sukar Bold"/>
              </a:rPr>
              <a:t>Berdasarkan studi-studi sebelumnya, terdapat beberapa celah penelitian (research gap):</a:t>
            </a:r>
          </a:p>
          <a:p>
            <a:pPr marL="1235459" lvl="2" indent="-411820" algn="just">
              <a:lnSpc>
                <a:spcPts val="2861"/>
              </a:lnSpc>
              <a:buFont typeface="Arial"/>
              <a:buChar char="⚬"/>
            </a:pPr>
            <a:r>
              <a:rPr lang="en-US" sz="2861" b="1">
                <a:solidFill>
                  <a:srgbClr val="000000"/>
                </a:solidFill>
                <a:latin typeface="Sukar Bold"/>
                <a:ea typeface="Sukar Bold"/>
                <a:cs typeface="Sukar Bold"/>
                <a:sym typeface="Sukar Bold"/>
              </a:rPr>
              <a:t>Minimnya integrasi antara hardware dan software (desain hibrida).</a:t>
            </a:r>
          </a:p>
          <a:p>
            <a:pPr marL="1235459" lvl="2" indent="-411820" algn="just">
              <a:lnSpc>
                <a:spcPts val="2861"/>
              </a:lnSpc>
              <a:buFont typeface="Arial"/>
              <a:buChar char="⚬"/>
            </a:pPr>
            <a:r>
              <a:rPr lang="en-US" sz="2861" b="1">
                <a:solidFill>
                  <a:srgbClr val="000000"/>
                </a:solidFill>
                <a:latin typeface="Sukar Bold"/>
                <a:ea typeface="Sukar Bold"/>
                <a:cs typeface="Sukar Bold"/>
                <a:sym typeface="Sukar Bold"/>
              </a:rPr>
              <a:t>Kurangnya penelitian perbandingan SHA-3 dengan algoritma lain seperti SHA-2 di platform embedded.</a:t>
            </a:r>
          </a:p>
          <a:p>
            <a:pPr marL="1235459" lvl="2" indent="-411820" algn="just">
              <a:lnSpc>
                <a:spcPts val="2861"/>
              </a:lnSpc>
              <a:buFont typeface="Arial"/>
              <a:buChar char="⚬"/>
            </a:pPr>
            <a:r>
              <a:rPr lang="en-US" sz="2861" b="1">
                <a:solidFill>
                  <a:srgbClr val="000000"/>
                </a:solidFill>
                <a:latin typeface="Sukar Bold"/>
                <a:ea typeface="Sukar Bold"/>
                <a:cs typeface="Sukar Bold"/>
                <a:sym typeface="Sukar Bold"/>
              </a:rPr>
              <a:t>Belum banyak kajian mengenai implementasi SHA-3 untuk aplikasi modern seperti blockchain dan AI hashing.</a:t>
            </a:r>
          </a:p>
          <a:p>
            <a:pPr marL="617729" lvl="1" indent="-308865" algn="just">
              <a:lnSpc>
                <a:spcPts val="2861"/>
              </a:lnSpc>
              <a:buFont typeface="Arial"/>
              <a:buChar char="•"/>
            </a:pPr>
            <a:r>
              <a:rPr lang="en-US" sz="2861" b="1">
                <a:solidFill>
                  <a:srgbClr val="000000"/>
                </a:solidFill>
                <a:latin typeface="Sukar Bold"/>
                <a:ea typeface="Sukar Bold"/>
                <a:cs typeface="Sukar Bold"/>
                <a:sym typeface="Sukar Bold"/>
              </a:rPr>
              <a:t>Arah masa depan dapat diarahkan pada optimasi SHA-3 untuk edge computing dan big data.</a:t>
            </a:r>
          </a:p>
          <a:p>
            <a:pPr algn="just">
              <a:lnSpc>
                <a:spcPts val="2224"/>
              </a:lnSpc>
            </a:pPr>
            <a:endParaRPr lang="en-US" sz="2861" b="1">
              <a:solidFill>
                <a:srgbClr val="000000"/>
              </a:solidFill>
              <a:latin typeface="Sukar Bold"/>
              <a:ea typeface="Sukar Bold"/>
              <a:cs typeface="Sukar Bold"/>
              <a:sym typeface="Sukar Bold"/>
            </a:endParaRPr>
          </a:p>
        </p:txBody>
      </p:sp>
      <p:sp>
        <p:nvSpPr>
          <p:cNvPr id="25" name="TextBox 25"/>
          <p:cNvSpPr txBox="1"/>
          <p:nvPr/>
        </p:nvSpPr>
        <p:spPr>
          <a:xfrm>
            <a:off x="10956800" y="1271079"/>
            <a:ext cx="6574747" cy="551190"/>
          </a:xfrm>
          <a:prstGeom prst="rect">
            <a:avLst/>
          </a:prstGeom>
        </p:spPr>
        <p:txBody>
          <a:bodyPr lIns="0" tIns="0" rIns="0" bIns="0" rtlCol="0" anchor="t">
            <a:spAutoFit/>
          </a:bodyPr>
          <a:lstStyle/>
          <a:p>
            <a:pPr algn="l">
              <a:lnSpc>
                <a:spcPts val="4298"/>
              </a:lnSpc>
            </a:pPr>
            <a:r>
              <a:rPr lang="en-US" sz="3907" b="1">
                <a:solidFill>
                  <a:srgbClr val="002C4F"/>
                </a:solidFill>
                <a:latin typeface="Sukar Heavy"/>
                <a:ea typeface="Sukar Heavy"/>
                <a:cs typeface="Sukar Heavy"/>
                <a:sym typeface="Sukar Heavy"/>
              </a:rPr>
              <a:t>UNIVERSITAS ESA UNGGUL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993391" y="9374487"/>
            <a:ext cx="10131768" cy="1522495"/>
            <a:chOff x="0" y="0"/>
            <a:chExt cx="852641" cy="128126"/>
          </a:xfrm>
        </p:grpSpPr>
        <p:sp>
          <p:nvSpPr>
            <p:cNvPr id="9" name="Freeform 9"/>
            <p:cNvSpPr/>
            <p:nvPr/>
          </p:nvSpPr>
          <p:spPr>
            <a:xfrm>
              <a:off x="0" y="0"/>
              <a:ext cx="852641" cy="128126"/>
            </a:xfrm>
            <a:custGeom>
              <a:avLst/>
              <a:gdLst/>
              <a:ahLst/>
              <a:cxnLst/>
              <a:rect l="l" t="t" r="r" b="b"/>
              <a:pathLst>
                <a:path w="852641" h="128126">
                  <a:moveTo>
                    <a:pt x="649441" y="0"/>
                  </a:moveTo>
                  <a:lnTo>
                    <a:pt x="0" y="0"/>
                  </a:lnTo>
                  <a:lnTo>
                    <a:pt x="203200" y="128126"/>
                  </a:lnTo>
                  <a:lnTo>
                    <a:pt x="852641" y="128126"/>
                  </a:lnTo>
                  <a:lnTo>
                    <a:pt x="649441" y="0"/>
                  </a:lnTo>
                  <a:close/>
                </a:path>
              </a:pathLst>
            </a:custGeom>
            <a:solidFill>
              <a:srgbClr val="F5AB0B"/>
            </a:solidFill>
          </p:spPr>
        </p:sp>
        <p:sp>
          <p:nvSpPr>
            <p:cNvPr id="10" name="TextBox 10"/>
            <p:cNvSpPr txBox="1"/>
            <p:nvPr/>
          </p:nvSpPr>
          <p:spPr>
            <a:xfrm>
              <a:off x="101600" y="-38100"/>
              <a:ext cx="649441" cy="16622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939656" y="9367336"/>
            <a:ext cx="5343123" cy="761247"/>
            <a:chOff x="0" y="0"/>
            <a:chExt cx="1219374" cy="173727"/>
          </a:xfrm>
        </p:grpSpPr>
        <p:sp>
          <p:nvSpPr>
            <p:cNvPr id="12" name="Freeform 12"/>
            <p:cNvSpPr/>
            <p:nvPr/>
          </p:nvSpPr>
          <p:spPr>
            <a:xfrm>
              <a:off x="0" y="0"/>
              <a:ext cx="1219374" cy="173727"/>
            </a:xfrm>
            <a:custGeom>
              <a:avLst/>
              <a:gdLst/>
              <a:ahLst/>
              <a:cxnLst/>
              <a:rect l="l" t="t" r="r" b="b"/>
              <a:pathLst>
                <a:path w="1219374" h="173727">
                  <a:moveTo>
                    <a:pt x="1016174" y="0"/>
                  </a:moveTo>
                  <a:lnTo>
                    <a:pt x="0" y="0"/>
                  </a:lnTo>
                  <a:lnTo>
                    <a:pt x="203200" y="173727"/>
                  </a:lnTo>
                  <a:lnTo>
                    <a:pt x="1219374" y="173727"/>
                  </a:lnTo>
                  <a:lnTo>
                    <a:pt x="1016174" y="0"/>
                  </a:lnTo>
                  <a:close/>
                </a:path>
              </a:pathLst>
            </a:custGeom>
            <a:solidFill>
              <a:srgbClr val="002C4F"/>
            </a:solidFill>
          </p:spPr>
        </p:sp>
        <p:sp>
          <p:nvSpPr>
            <p:cNvPr id="13" name="TextBox 13"/>
            <p:cNvSpPr txBox="1"/>
            <p:nvPr/>
          </p:nvSpPr>
          <p:spPr>
            <a:xfrm>
              <a:off x="101600" y="-38100"/>
              <a:ext cx="1016174" cy="21182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649855" y="9575641"/>
            <a:ext cx="14144497" cy="1340390"/>
            <a:chOff x="0" y="0"/>
            <a:chExt cx="1527407" cy="144743"/>
          </a:xfrm>
        </p:grpSpPr>
        <p:sp>
          <p:nvSpPr>
            <p:cNvPr id="15" name="Freeform 15"/>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6" name="TextBox 16"/>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366617" y="8947666"/>
            <a:ext cx="13622175" cy="853642"/>
            <a:chOff x="0" y="0"/>
            <a:chExt cx="3145382" cy="197107"/>
          </a:xfrm>
        </p:grpSpPr>
        <p:sp>
          <p:nvSpPr>
            <p:cNvPr id="18" name="Freeform 18"/>
            <p:cNvSpPr/>
            <p:nvPr/>
          </p:nvSpPr>
          <p:spPr>
            <a:xfrm>
              <a:off x="0" y="0"/>
              <a:ext cx="3145382" cy="197107"/>
            </a:xfrm>
            <a:custGeom>
              <a:avLst/>
              <a:gdLst/>
              <a:ahLst/>
              <a:cxnLst/>
              <a:rect l="l" t="t" r="r" b="b"/>
              <a:pathLst>
                <a:path w="3145382" h="197107">
                  <a:moveTo>
                    <a:pt x="2942182" y="0"/>
                  </a:moveTo>
                  <a:lnTo>
                    <a:pt x="0" y="0"/>
                  </a:lnTo>
                  <a:lnTo>
                    <a:pt x="203200" y="197107"/>
                  </a:lnTo>
                  <a:lnTo>
                    <a:pt x="3145382" y="197107"/>
                  </a:lnTo>
                  <a:lnTo>
                    <a:pt x="2942182" y="0"/>
                  </a:lnTo>
                  <a:close/>
                </a:path>
              </a:pathLst>
            </a:custGeom>
            <a:solidFill>
              <a:srgbClr val="000000">
                <a:alpha val="0"/>
              </a:srgbClr>
            </a:solidFill>
            <a:ln w="38100" cap="sq">
              <a:solidFill>
                <a:srgbClr val="002C4F"/>
              </a:solidFill>
              <a:prstDash val="solid"/>
              <a:miter/>
            </a:ln>
          </p:spPr>
        </p:sp>
        <p:sp>
          <p:nvSpPr>
            <p:cNvPr id="19" name="TextBox 19"/>
            <p:cNvSpPr txBox="1"/>
            <p:nvPr/>
          </p:nvSpPr>
          <p:spPr>
            <a:xfrm>
              <a:off x="101600" y="-38100"/>
              <a:ext cx="2942182" cy="235207"/>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2589027">
            <a:off x="15814155" y="-868118"/>
            <a:ext cx="4947690" cy="3086100"/>
            <a:chOff x="0" y="0"/>
            <a:chExt cx="1303095" cy="812800"/>
          </a:xfrm>
        </p:grpSpPr>
        <p:sp>
          <p:nvSpPr>
            <p:cNvPr id="21" name="Freeform 21"/>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22" name="TextBox 22"/>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2818405" y="-292640"/>
            <a:ext cx="14144497" cy="1340390"/>
            <a:chOff x="0" y="0"/>
            <a:chExt cx="1527407" cy="144743"/>
          </a:xfrm>
        </p:grpSpPr>
        <p:sp>
          <p:nvSpPr>
            <p:cNvPr id="24" name="Freeform 24"/>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F5AB0B"/>
            </a:solidFill>
          </p:spPr>
        </p:sp>
        <p:sp>
          <p:nvSpPr>
            <p:cNvPr id="25" name="TextBox 25"/>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8780485" y="254490"/>
            <a:ext cx="5343123" cy="707535"/>
            <a:chOff x="0" y="0"/>
            <a:chExt cx="1219374" cy="161469"/>
          </a:xfrm>
        </p:grpSpPr>
        <p:sp>
          <p:nvSpPr>
            <p:cNvPr id="27" name="Freeform 27"/>
            <p:cNvSpPr/>
            <p:nvPr/>
          </p:nvSpPr>
          <p:spPr>
            <a:xfrm>
              <a:off x="0" y="0"/>
              <a:ext cx="1219374" cy="161469"/>
            </a:xfrm>
            <a:custGeom>
              <a:avLst/>
              <a:gdLst/>
              <a:ahLst/>
              <a:cxnLst/>
              <a:rect l="l" t="t" r="r" b="b"/>
              <a:pathLst>
                <a:path w="1219374" h="161469">
                  <a:moveTo>
                    <a:pt x="1016174" y="0"/>
                  </a:moveTo>
                  <a:lnTo>
                    <a:pt x="0" y="0"/>
                  </a:lnTo>
                  <a:lnTo>
                    <a:pt x="203200" y="161469"/>
                  </a:lnTo>
                  <a:lnTo>
                    <a:pt x="1219374" y="161469"/>
                  </a:lnTo>
                  <a:lnTo>
                    <a:pt x="1016174" y="0"/>
                  </a:lnTo>
                  <a:close/>
                </a:path>
              </a:pathLst>
            </a:custGeom>
            <a:solidFill>
              <a:srgbClr val="002C4F"/>
            </a:solidFill>
          </p:spPr>
        </p:sp>
        <p:sp>
          <p:nvSpPr>
            <p:cNvPr id="28" name="TextBox 28"/>
            <p:cNvSpPr txBox="1"/>
            <p:nvPr/>
          </p:nvSpPr>
          <p:spPr>
            <a:xfrm>
              <a:off x="101600" y="-38100"/>
              <a:ext cx="1016174" cy="199569"/>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3044319" y="-670195"/>
            <a:ext cx="14144497" cy="1340390"/>
            <a:chOff x="0" y="0"/>
            <a:chExt cx="1527407" cy="144743"/>
          </a:xfrm>
        </p:grpSpPr>
        <p:sp>
          <p:nvSpPr>
            <p:cNvPr id="30" name="Freeform 30"/>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31" name="TextBox 31"/>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1268232" y="2181166"/>
            <a:ext cx="13094908" cy="980399"/>
          </a:xfrm>
          <a:prstGeom prst="rect">
            <a:avLst/>
          </a:prstGeom>
        </p:spPr>
        <p:txBody>
          <a:bodyPr lIns="0" tIns="0" rIns="0" bIns="0" rtlCol="0" anchor="t">
            <a:spAutoFit/>
          </a:bodyPr>
          <a:lstStyle/>
          <a:p>
            <a:pPr algn="l">
              <a:lnSpc>
                <a:spcPts val="7473"/>
              </a:lnSpc>
            </a:pPr>
            <a:r>
              <a:rPr lang="en-US" sz="7473" b="1">
                <a:solidFill>
                  <a:srgbClr val="000000"/>
                </a:solidFill>
                <a:latin typeface="Inter Ultra-Bold"/>
                <a:ea typeface="Inter Ultra-Bold"/>
                <a:cs typeface="Inter Ultra-Bold"/>
                <a:sym typeface="Inter Ultra-Bold"/>
              </a:rPr>
              <a:t>KESIMPULAN </a:t>
            </a:r>
          </a:p>
        </p:txBody>
      </p:sp>
      <p:sp>
        <p:nvSpPr>
          <p:cNvPr id="33" name="TextBox 33"/>
          <p:cNvSpPr txBox="1"/>
          <p:nvPr/>
        </p:nvSpPr>
        <p:spPr>
          <a:xfrm>
            <a:off x="1268232" y="3598963"/>
            <a:ext cx="13094908" cy="6168274"/>
          </a:xfrm>
          <a:prstGeom prst="rect">
            <a:avLst/>
          </a:prstGeom>
        </p:spPr>
        <p:txBody>
          <a:bodyPr lIns="0" tIns="0" rIns="0" bIns="0" rtlCol="0" anchor="t">
            <a:spAutoFit/>
          </a:bodyPr>
          <a:lstStyle/>
          <a:p>
            <a:pPr algn="just">
              <a:lnSpc>
                <a:spcPts val="3736"/>
              </a:lnSpc>
            </a:pPr>
            <a:r>
              <a:rPr lang="en-US" sz="3736" b="1">
                <a:solidFill>
                  <a:srgbClr val="000000"/>
                </a:solidFill>
                <a:latin typeface="Sukar Bold"/>
                <a:ea typeface="Sukar Bold"/>
                <a:cs typeface="Sukar Bold"/>
                <a:sym typeface="Sukar Bold"/>
              </a:rPr>
              <a:t>SHA-3 (Keccak) merupakan algoritma hash yang kuat, dengan keamanan tinggi dan performa baik pada perangkat keras modern. Meski demikian, pada perangkat terbatas (seperti FPGA berbiaya rendah atau IoT), efisiensi area dan daya masih perlu ditingkatkan. Perlu adanya strategi desain khusus untuk menyeimbangkan throughput, area, dan konsumsi daya.</a:t>
            </a:r>
          </a:p>
          <a:p>
            <a:pPr algn="just">
              <a:lnSpc>
                <a:spcPts val="3736"/>
              </a:lnSpc>
            </a:pPr>
            <a:endParaRPr lang="en-US" sz="3736" b="1">
              <a:solidFill>
                <a:srgbClr val="000000"/>
              </a:solidFill>
              <a:latin typeface="Sukar Bold"/>
              <a:ea typeface="Sukar Bold"/>
              <a:cs typeface="Sukar Bold"/>
              <a:sym typeface="Sukar Bold"/>
            </a:endParaRPr>
          </a:p>
          <a:p>
            <a:pPr algn="just">
              <a:lnSpc>
                <a:spcPts val="3736"/>
              </a:lnSpc>
            </a:pPr>
            <a:r>
              <a:rPr lang="en-US" sz="3736" b="1">
                <a:solidFill>
                  <a:srgbClr val="000000"/>
                </a:solidFill>
                <a:latin typeface="Sukar Bold"/>
                <a:ea typeface="Sukar Bold"/>
                <a:cs typeface="Sukar Bold"/>
                <a:sym typeface="Sukar Bold"/>
              </a:rPr>
              <a:t>Penelitian masa depan diharapkan mampu menggabungkan pendekatan hardware-software agar implementasi SHA-3 menjadi lebih efisien dan adaptif terhadap berbagai sistem kriptografi modern.</a:t>
            </a:r>
          </a:p>
          <a:p>
            <a:pPr algn="just">
              <a:lnSpc>
                <a:spcPts val="3736"/>
              </a:lnSpc>
            </a:pPr>
            <a:endParaRPr lang="en-US" sz="3736" b="1">
              <a:solidFill>
                <a:srgbClr val="000000"/>
              </a:solidFill>
              <a:latin typeface="Sukar Bold"/>
              <a:ea typeface="Sukar Bold"/>
              <a:cs typeface="Sukar Bold"/>
              <a:sym typeface="Sukar Bold"/>
            </a:endParaRPr>
          </a:p>
          <a:p>
            <a:pPr algn="just">
              <a:lnSpc>
                <a:spcPts val="3736"/>
              </a:lnSpc>
            </a:pPr>
            <a:endParaRPr lang="en-US" sz="3736" b="1">
              <a:solidFill>
                <a:srgbClr val="000000"/>
              </a:solidFill>
              <a:latin typeface="Sukar Bold"/>
              <a:ea typeface="Sukar Bold"/>
              <a:cs typeface="Sukar Bold"/>
              <a:sym typeface="Sukar Bold"/>
            </a:endParaRPr>
          </a:p>
        </p:txBody>
      </p:sp>
      <p:sp>
        <p:nvSpPr>
          <p:cNvPr id="34" name="Freeform 34"/>
          <p:cNvSpPr/>
          <p:nvPr/>
        </p:nvSpPr>
        <p:spPr>
          <a:xfrm>
            <a:off x="14830739" y="4886690"/>
            <a:ext cx="1649358" cy="1649358"/>
          </a:xfrm>
          <a:custGeom>
            <a:avLst/>
            <a:gdLst/>
            <a:ahLst/>
            <a:cxnLst/>
            <a:rect l="l" t="t" r="r" b="b"/>
            <a:pathLst>
              <a:path w="1649358" h="1649358">
                <a:moveTo>
                  <a:pt x="0" y="0"/>
                </a:moveTo>
                <a:lnTo>
                  <a:pt x="1649358" y="0"/>
                </a:lnTo>
                <a:lnTo>
                  <a:pt x="1649358" y="1649357"/>
                </a:lnTo>
                <a:lnTo>
                  <a:pt x="0" y="16493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5" name="Freeform 35"/>
          <p:cNvSpPr/>
          <p:nvPr/>
        </p:nvSpPr>
        <p:spPr>
          <a:xfrm>
            <a:off x="14233614" y="2436241"/>
            <a:ext cx="1194249" cy="395188"/>
          </a:xfrm>
          <a:custGeom>
            <a:avLst/>
            <a:gdLst/>
            <a:ahLst/>
            <a:cxnLst/>
            <a:rect l="l" t="t" r="r" b="b"/>
            <a:pathLst>
              <a:path w="1194249" h="395188">
                <a:moveTo>
                  <a:pt x="0" y="0"/>
                </a:moveTo>
                <a:lnTo>
                  <a:pt x="1194250" y="0"/>
                </a:lnTo>
                <a:lnTo>
                  <a:pt x="1194250" y="395188"/>
                </a:lnTo>
                <a:lnTo>
                  <a:pt x="0" y="3951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589027">
            <a:off x="-2309566" y="7883971"/>
            <a:ext cx="4947690" cy="3086100"/>
            <a:chOff x="0" y="0"/>
            <a:chExt cx="1303095" cy="812800"/>
          </a:xfrm>
        </p:grpSpPr>
        <p:sp>
          <p:nvSpPr>
            <p:cNvPr id="3" name="Freeform 3"/>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4" name="TextBox 4"/>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35906" y="9154707"/>
            <a:ext cx="14144497" cy="1186504"/>
            <a:chOff x="0" y="0"/>
            <a:chExt cx="1527407" cy="128126"/>
          </a:xfrm>
        </p:grpSpPr>
        <p:sp>
          <p:nvSpPr>
            <p:cNvPr id="6" name="Freeform 6"/>
            <p:cNvSpPr/>
            <p:nvPr/>
          </p:nvSpPr>
          <p:spPr>
            <a:xfrm>
              <a:off x="0" y="0"/>
              <a:ext cx="1527407" cy="128126"/>
            </a:xfrm>
            <a:custGeom>
              <a:avLst/>
              <a:gdLst/>
              <a:ahLst/>
              <a:cxnLst/>
              <a:rect l="l" t="t" r="r" b="b"/>
              <a:pathLst>
                <a:path w="1527407" h="128126">
                  <a:moveTo>
                    <a:pt x="1324207" y="0"/>
                  </a:moveTo>
                  <a:lnTo>
                    <a:pt x="0" y="0"/>
                  </a:lnTo>
                  <a:lnTo>
                    <a:pt x="203200" y="128126"/>
                  </a:lnTo>
                  <a:lnTo>
                    <a:pt x="1527407" y="128126"/>
                  </a:lnTo>
                  <a:lnTo>
                    <a:pt x="1324207" y="0"/>
                  </a:lnTo>
                  <a:close/>
                </a:path>
              </a:pathLst>
            </a:custGeom>
            <a:solidFill>
              <a:srgbClr val="F5AB0B"/>
            </a:solidFill>
          </p:spPr>
        </p:sp>
        <p:sp>
          <p:nvSpPr>
            <p:cNvPr id="7" name="TextBox 7"/>
            <p:cNvSpPr txBox="1"/>
            <p:nvPr/>
          </p:nvSpPr>
          <p:spPr>
            <a:xfrm>
              <a:off x="101600" y="-38100"/>
              <a:ext cx="1324207" cy="1662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993391" y="9374487"/>
            <a:ext cx="10131768" cy="1522495"/>
            <a:chOff x="0" y="0"/>
            <a:chExt cx="852641" cy="128126"/>
          </a:xfrm>
        </p:grpSpPr>
        <p:sp>
          <p:nvSpPr>
            <p:cNvPr id="9" name="Freeform 9"/>
            <p:cNvSpPr/>
            <p:nvPr/>
          </p:nvSpPr>
          <p:spPr>
            <a:xfrm>
              <a:off x="0" y="0"/>
              <a:ext cx="852641" cy="128126"/>
            </a:xfrm>
            <a:custGeom>
              <a:avLst/>
              <a:gdLst/>
              <a:ahLst/>
              <a:cxnLst/>
              <a:rect l="l" t="t" r="r" b="b"/>
              <a:pathLst>
                <a:path w="852641" h="128126">
                  <a:moveTo>
                    <a:pt x="649441" y="0"/>
                  </a:moveTo>
                  <a:lnTo>
                    <a:pt x="0" y="0"/>
                  </a:lnTo>
                  <a:lnTo>
                    <a:pt x="203200" y="128126"/>
                  </a:lnTo>
                  <a:lnTo>
                    <a:pt x="852641" y="128126"/>
                  </a:lnTo>
                  <a:lnTo>
                    <a:pt x="649441" y="0"/>
                  </a:lnTo>
                  <a:close/>
                </a:path>
              </a:pathLst>
            </a:custGeom>
            <a:solidFill>
              <a:srgbClr val="F5AB0B"/>
            </a:solidFill>
          </p:spPr>
        </p:sp>
        <p:sp>
          <p:nvSpPr>
            <p:cNvPr id="10" name="TextBox 10"/>
            <p:cNvSpPr txBox="1"/>
            <p:nvPr/>
          </p:nvSpPr>
          <p:spPr>
            <a:xfrm>
              <a:off x="101600" y="-38100"/>
              <a:ext cx="649441" cy="16622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939656" y="9367336"/>
            <a:ext cx="5343123" cy="761247"/>
            <a:chOff x="0" y="0"/>
            <a:chExt cx="1219374" cy="173727"/>
          </a:xfrm>
        </p:grpSpPr>
        <p:sp>
          <p:nvSpPr>
            <p:cNvPr id="12" name="Freeform 12"/>
            <p:cNvSpPr/>
            <p:nvPr/>
          </p:nvSpPr>
          <p:spPr>
            <a:xfrm>
              <a:off x="0" y="0"/>
              <a:ext cx="1219374" cy="173727"/>
            </a:xfrm>
            <a:custGeom>
              <a:avLst/>
              <a:gdLst/>
              <a:ahLst/>
              <a:cxnLst/>
              <a:rect l="l" t="t" r="r" b="b"/>
              <a:pathLst>
                <a:path w="1219374" h="173727">
                  <a:moveTo>
                    <a:pt x="1016174" y="0"/>
                  </a:moveTo>
                  <a:lnTo>
                    <a:pt x="0" y="0"/>
                  </a:lnTo>
                  <a:lnTo>
                    <a:pt x="203200" y="173727"/>
                  </a:lnTo>
                  <a:lnTo>
                    <a:pt x="1219374" y="173727"/>
                  </a:lnTo>
                  <a:lnTo>
                    <a:pt x="1016174" y="0"/>
                  </a:lnTo>
                  <a:close/>
                </a:path>
              </a:pathLst>
            </a:custGeom>
            <a:solidFill>
              <a:srgbClr val="002C4F"/>
            </a:solidFill>
          </p:spPr>
        </p:sp>
        <p:sp>
          <p:nvSpPr>
            <p:cNvPr id="13" name="TextBox 13"/>
            <p:cNvSpPr txBox="1"/>
            <p:nvPr/>
          </p:nvSpPr>
          <p:spPr>
            <a:xfrm>
              <a:off x="101600" y="-38100"/>
              <a:ext cx="1016174" cy="21182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649855" y="9575641"/>
            <a:ext cx="14144497" cy="1340390"/>
            <a:chOff x="0" y="0"/>
            <a:chExt cx="1527407" cy="144743"/>
          </a:xfrm>
        </p:grpSpPr>
        <p:sp>
          <p:nvSpPr>
            <p:cNvPr id="15" name="Freeform 15"/>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16" name="TextBox 16"/>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366617" y="8947666"/>
            <a:ext cx="13622175" cy="853642"/>
            <a:chOff x="0" y="0"/>
            <a:chExt cx="3145382" cy="197107"/>
          </a:xfrm>
        </p:grpSpPr>
        <p:sp>
          <p:nvSpPr>
            <p:cNvPr id="18" name="Freeform 18"/>
            <p:cNvSpPr/>
            <p:nvPr/>
          </p:nvSpPr>
          <p:spPr>
            <a:xfrm>
              <a:off x="0" y="0"/>
              <a:ext cx="3145382" cy="197107"/>
            </a:xfrm>
            <a:custGeom>
              <a:avLst/>
              <a:gdLst/>
              <a:ahLst/>
              <a:cxnLst/>
              <a:rect l="l" t="t" r="r" b="b"/>
              <a:pathLst>
                <a:path w="3145382" h="197107">
                  <a:moveTo>
                    <a:pt x="2942182" y="0"/>
                  </a:moveTo>
                  <a:lnTo>
                    <a:pt x="0" y="0"/>
                  </a:lnTo>
                  <a:lnTo>
                    <a:pt x="203200" y="197107"/>
                  </a:lnTo>
                  <a:lnTo>
                    <a:pt x="3145382" y="197107"/>
                  </a:lnTo>
                  <a:lnTo>
                    <a:pt x="2942182" y="0"/>
                  </a:lnTo>
                  <a:close/>
                </a:path>
              </a:pathLst>
            </a:custGeom>
            <a:solidFill>
              <a:srgbClr val="000000">
                <a:alpha val="0"/>
              </a:srgbClr>
            </a:solidFill>
            <a:ln w="38100" cap="sq">
              <a:solidFill>
                <a:srgbClr val="002C4F"/>
              </a:solidFill>
              <a:prstDash val="solid"/>
              <a:miter/>
            </a:ln>
          </p:spPr>
        </p:sp>
        <p:sp>
          <p:nvSpPr>
            <p:cNvPr id="19" name="TextBox 19"/>
            <p:cNvSpPr txBox="1"/>
            <p:nvPr/>
          </p:nvSpPr>
          <p:spPr>
            <a:xfrm>
              <a:off x="101600" y="-38100"/>
              <a:ext cx="2942182" cy="235207"/>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2589027">
            <a:off x="15814155" y="-868118"/>
            <a:ext cx="4947690" cy="3086100"/>
            <a:chOff x="0" y="0"/>
            <a:chExt cx="1303095" cy="812800"/>
          </a:xfrm>
        </p:grpSpPr>
        <p:sp>
          <p:nvSpPr>
            <p:cNvPr id="21" name="Freeform 21"/>
            <p:cNvSpPr/>
            <p:nvPr/>
          </p:nvSpPr>
          <p:spPr>
            <a:xfrm>
              <a:off x="0" y="0"/>
              <a:ext cx="1303095" cy="812800"/>
            </a:xfrm>
            <a:custGeom>
              <a:avLst/>
              <a:gdLst/>
              <a:ahLst/>
              <a:cxnLst/>
              <a:rect l="l" t="t" r="r" b="b"/>
              <a:pathLst>
                <a:path w="1303095" h="812800">
                  <a:moveTo>
                    <a:pt x="0" y="0"/>
                  </a:moveTo>
                  <a:lnTo>
                    <a:pt x="1303095" y="0"/>
                  </a:lnTo>
                  <a:lnTo>
                    <a:pt x="1303095" y="812800"/>
                  </a:lnTo>
                  <a:lnTo>
                    <a:pt x="0" y="812800"/>
                  </a:lnTo>
                  <a:close/>
                </a:path>
              </a:pathLst>
            </a:custGeom>
            <a:solidFill>
              <a:srgbClr val="002C4F"/>
            </a:solidFill>
          </p:spPr>
        </p:sp>
        <p:sp>
          <p:nvSpPr>
            <p:cNvPr id="22" name="TextBox 22"/>
            <p:cNvSpPr txBox="1"/>
            <p:nvPr/>
          </p:nvSpPr>
          <p:spPr>
            <a:xfrm>
              <a:off x="0" y="-38100"/>
              <a:ext cx="1303095" cy="8509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2818405" y="-292640"/>
            <a:ext cx="14144497" cy="1340390"/>
            <a:chOff x="0" y="0"/>
            <a:chExt cx="1527407" cy="144743"/>
          </a:xfrm>
        </p:grpSpPr>
        <p:sp>
          <p:nvSpPr>
            <p:cNvPr id="24" name="Freeform 24"/>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F5AB0B"/>
            </a:solidFill>
          </p:spPr>
        </p:sp>
        <p:sp>
          <p:nvSpPr>
            <p:cNvPr id="25" name="TextBox 25"/>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8780485" y="254490"/>
            <a:ext cx="5343123" cy="707535"/>
            <a:chOff x="0" y="0"/>
            <a:chExt cx="1219374" cy="161469"/>
          </a:xfrm>
        </p:grpSpPr>
        <p:sp>
          <p:nvSpPr>
            <p:cNvPr id="27" name="Freeform 27"/>
            <p:cNvSpPr/>
            <p:nvPr/>
          </p:nvSpPr>
          <p:spPr>
            <a:xfrm>
              <a:off x="0" y="0"/>
              <a:ext cx="1219374" cy="161469"/>
            </a:xfrm>
            <a:custGeom>
              <a:avLst/>
              <a:gdLst/>
              <a:ahLst/>
              <a:cxnLst/>
              <a:rect l="l" t="t" r="r" b="b"/>
              <a:pathLst>
                <a:path w="1219374" h="161469">
                  <a:moveTo>
                    <a:pt x="1016174" y="0"/>
                  </a:moveTo>
                  <a:lnTo>
                    <a:pt x="0" y="0"/>
                  </a:lnTo>
                  <a:lnTo>
                    <a:pt x="203200" y="161469"/>
                  </a:lnTo>
                  <a:lnTo>
                    <a:pt x="1219374" y="161469"/>
                  </a:lnTo>
                  <a:lnTo>
                    <a:pt x="1016174" y="0"/>
                  </a:lnTo>
                  <a:close/>
                </a:path>
              </a:pathLst>
            </a:custGeom>
            <a:solidFill>
              <a:srgbClr val="002C4F"/>
            </a:solidFill>
          </p:spPr>
        </p:sp>
        <p:sp>
          <p:nvSpPr>
            <p:cNvPr id="28" name="TextBox 28"/>
            <p:cNvSpPr txBox="1"/>
            <p:nvPr/>
          </p:nvSpPr>
          <p:spPr>
            <a:xfrm>
              <a:off x="101600" y="-38100"/>
              <a:ext cx="1016174" cy="199569"/>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3044319" y="-670195"/>
            <a:ext cx="14144497" cy="1340390"/>
            <a:chOff x="0" y="0"/>
            <a:chExt cx="1527407" cy="144743"/>
          </a:xfrm>
        </p:grpSpPr>
        <p:sp>
          <p:nvSpPr>
            <p:cNvPr id="30" name="Freeform 30"/>
            <p:cNvSpPr/>
            <p:nvPr/>
          </p:nvSpPr>
          <p:spPr>
            <a:xfrm>
              <a:off x="0" y="0"/>
              <a:ext cx="1527407" cy="144743"/>
            </a:xfrm>
            <a:custGeom>
              <a:avLst/>
              <a:gdLst/>
              <a:ahLst/>
              <a:cxnLst/>
              <a:rect l="l" t="t" r="r" b="b"/>
              <a:pathLst>
                <a:path w="1527407" h="144743">
                  <a:moveTo>
                    <a:pt x="1324207" y="0"/>
                  </a:moveTo>
                  <a:lnTo>
                    <a:pt x="0" y="0"/>
                  </a:lnTo>
                  <a:lnTo>
                    <a:pt x="203200" y="144743"/>
                  </a:lnTo>
                  <a:lnTo>
                    <a:pt x="1527407" y="144743"/>
                  </a:lnTo>
                  <a:lnTo>
                    <a:pt x="1324207" y="0"/>
                  </a:lnTo>
                  <a:close/>
                </a:path>
              </a:pathLst>
            </a:custGeom>
            <a:solidFill>
              <a:srgbClr val="002C4F"/>
            </a:solidFill>
          </p:spPr>
        </p:sp>
        <p:sp>
          <p:nvSpPr>
            <p:cNvPr id="31" name="TextBox 31"/>
            <p:cNvSpPr txBox="1"/>
            <p:nvPr/>
          </p:nvSpPr>
          <p:spPr>
            <a:xfrm>
              <a:off x="101600" y="-38100"/>
              <a:ext cx="1324207" cy="182843"/>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4307286" y="2572801"/>
            <a:ext cx="9673428" cy="4824683"/>
          </a:xfrm>
          <a:prstGeom prst="rect">
            <a:avLst/>
          </a:prstGeom>
        </p:spPr>
        <p:txBody>
          <a:bodyPr lIns="0" tIns="0" rIns="0" bIns="0" rtlCol="0" anchor="t">
            <a:spAutoFit/>
          </a:bodyPr>
          <a:lstStyle/>
          <a:p>
            <a:pPr algn="l">
              <a:lnSpc>
                <a:spcPts val="18573"/>
              </a:lnSpc>
            </a:pPr>
            <a:r>
              <a:rPr lang="en-US" sz="18573" b="1">
                <a:solidFill>
                  <a:srgbClr val="002C4F"/>
                </a:solidFill>
                <a:latin typeface="Inter Ultra-Bold"/>
                <a:ea typeface="Inter Ultra-Bold"/>
                <a:cs typeface="Inter Ultra-Bold"/>
                <a:sym typeface="Inter Ultra-Bold"/>
              </a:rPr>
              <a:t>TERIMA </a:t>
            </a:r>
            <a:r>
              <a:rPr lang="en-US" sz="18573" b="1">
                <a:solidFill>
                  <a:srgbClr val="F5AB0B"/>
                </a:solidFill>
                <a:latin typeface="Inter Ultra-Bold"/>
                <a:ea typeface="Inter Ultra-Bold"/>
                <a:cs typeface="Inter Ultra-Bold"/>
                <a:sym typeface="Inter Ultra-Bold"/>
              </a:rPr>
              <a:t>KASIH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683</Words>
  <Application>Microsoft Office PowerPoint</Application>
  <PresentationFormat>Custom</PresentationFormat>
  <Paragraphs>53</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Inter Heavy</vt:lpstr>
      <vt:lpstr>Inter Ultra-Bold</vt:lpstr>
      <vt:lpstr>Sukar Bold</vt:lpstr>
      <vt:lpstr>Sukar Heavy</vt:lpstr>
      <vt:lpstr>Calibri</vt:lpstr>
      <vt:lpstr>Sukar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Kriptografi_UTS</dc:title>
  <cp:lastModifiedBy>asus asus</cp:lastModifiedBy>
  <cp:revision>4</cp:revision>
  <dcterms:created xsi:type="dcterms:W3CDTF">2006-08-16T00:00:00Z</dcterms:created>
  <dcterms:modified xsi:type="dcterms:W3CDTF">2025-11-05T16:54:23Z</dcterms:modified>
  <dc:identifier>DAG3LWd-qE4</dc:identifier>
</cp:coreProperties>
</file>