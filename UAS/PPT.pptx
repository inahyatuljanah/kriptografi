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Canva Sans" charset="1" panose="020B0503030501040103"/>
      <p:regular r:id="rId12"/>
    </p:embeddedFont>
    <p:embeddedFont>
      <p:font typeface="ฟ้อนต์ Bold" charset="1" panose="00000800000000000000"/>
      <p:regular r:id="rId13"/>
    </p:embeddedFont>
    <p:embeddedFont>
      <p:font typeface="Canva Sans Bold" charset="1" panose="020B0803030501040103"/>
      <p:regular r:id="rId14"/>
    </p:embeddedFont>
    <p:embeddedFont>
      <p:font typeface="Garet Bold" charset="1" panose="00000000000000000000"/>
      <p:regular r:id="rId15"/>
    </p:embeddedFont>
    <p:embeddedFont>
      <p:font typeface="Garet"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4241" y="2963320"/>
            <a:ext cx="18073759" cy="1941874"/>
          </a:xfrm>
          <a:prstGeom prst="rect">
            <a:avLst/>
          </a:prstGeom>
        </p:spPr>
        <p:txBody>
          <a:bodyPr anchor="t" rtlCol="false" tIns="0" lIns="0" bIns="0" rIns="0">
            <a:spAutoFit/>
          </a:bodyPr>
          <a:lstStyle/>
          <a:p>
            <a:pPr algn="ctr">
              <a:lnSpc>
                <a:spcPts val="7943"/>
              </a:lnSpc>
            </a:pPr>
            <a:r>
              <a:rPr lang="en-US" sz="4986">
                <a:solidFill>
                  <a:srgbClr val="2C3249"/>
                </a:solidFill>
                <a:latin typeface="Canva Sans"/>
                <a:ea typeface="Canva Sans"/>
                <a:cs typeface="Canva Sans"/>
                <a:sym typeface="Canva Sans"/>
              </a:rPr>
              <a:t>LINK YOUTUBE</a:t>
            </a:r>
          </a:p>
          <a:p>
            <a:pPr algn="ctr">
              <a:lnSpc>
                <a:spcPts val="7943"/>
              </a:lnSpc>
            </a:pPr>
            <a:r>
              <a:rPr lang="en-US" sz="4986">
                <a:solidFill>
                  <a:srgbClr val="2C3249"/>
                </a:solidFill>
                <a:latin typeface="Canva Sans"/>
                <a:ea typeface="Canva Sans"/>
                <a:cs typeface="Canva Sans"/>
                <a:sym typeface="Canva Sans"/>
              </a:rPr>
              <a:t>https://youtu.be/KkPp6JoSK7o?si=QDzZ1tibxspvk7T7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63050" y="-239987"/>
            <a:ext cx="9946762" cy="10526987"/>
            <a:chOff x="0" y="0"/>
            <a:chExt cx="3230401" cy="3418840"/>
          </a:xfrm>
        </p:grpSpPr>
        <p:sp>
          <p:nvSpPr>
            <p:cNvPr name="Freeform 3" id="3"/>
            <p:cNvSpPr/>
            <p:nvPr/>
          </p:nvSpPr>
          <p:spPr>
            <a:xfrm flipH="false" flipV="false" rot="0">
              <a:off x="-127" y="-2019"/>
              <a:ext cx="3230528" cy="3417049"/>
            </a:xfrm>
            <a:custGeom>
              <a:avLst/>
              <a:gdLst/>
              <a:ahLst/>
              <a:cxnLst/>
              <a:rect r="r" b="b" t="t" l="l"/>
              <a:pathLst>
                <a:path h="3417049" w="3230528">
                  <a:moveTo>
                    <a:pt x="84252" y="2415019"/>
                  </a:moveTo>
                  <a:lnTo>
                    <a:pt x="82722" y="2413749"/>
                  </a:lnTo>
                  <a:cubicBezTo>
                    <a:pt x="38366" y="2340089"/>
                    <a:pt x="50602" y="2252459"/>
                    <a:pt x="50602" y="2173719"/>
                  </a:cubicBezTo>
                  <a:cubicBezTo>
                    <a:pt x="50602" y="2140699"/>
                    <a:pt x="50602" y="2098789"/>
                    <a:pt x="52132" y="2067039"/>
                  </a:cubicBezTo>
                  <a:cubicBezTo>
                    <a:pt x="56720" y="1961629"/>
                    <a:pt x="24600" y="1858759"/>
                    <a:pt x="122491" y="1776209"/>
                  </a:cubicBezTo>
                  <a:cubicBezTo>
                    <a:pt x="179084" y="1726679"/>
                    <a:pt x="258620" y="1700009"/>
                    <a:pt x="347334" y="1701279"/>
                  </a:cubicBezTo>
                  <a:cubicBezTo>
                    <a:pt x="347334" y="1701279"/>
                    <a:pt x="656302" y="1702549"/>
                    <a:pt x="656302" y="1702549"/>
                  </a:cubicBezTo>
                  <a:cubicBezTo>
                    <a:pt x="836789" y="1710169"/>
                    <a:pt x="1006568" y="1686039"/>
                    <a:pt x="1064691" y="1545069"/>
                  </a:cubicBezTo>
                  <a:cubicBezTo>
                    <a:pt x="1079986" y="1503159"/>
                    <a:pt x="1075398" y="1418069"/>
                    <a:pt x="1076927" y="1373619"/>
                  </a:cubicBezTo>
                  <a:cubicBezTo>
                    <a:pt x="1075398" y="1354569"/>
                    <a:pt x="1083045" y="1155179"/>
                    <a:pt x="1078457" y="1142479"/>
                  </a:cubicBezTo>
                  <a:cubicBezTo>
                    <a:pt x="1063161" y="1002779"/>
                    <a:pt x="1209998" y="884669"/>
                    <a:pt x="1376718" y="891019"/>
                  </a:cubicBezTo>
                  <a:cubicBezTo>
                    <a:pt x="1506730" y="892289"/>
                    <a:pt x="1647448" y="891019"/>
                    <a:pt x="1777459" y="891019"/>
                  </a:cubicBezTo>
                  <a:cubicBezTo>
                    <a:pt x="1933473" y="888479"/>
                    <a:pt x="2084898" y="734809"/>
                    <a:pt x="2081839" y="602729"/>
                  </a:cubicBezTo>
                  <a:cubicBezTo>
                    <a:pt x="2084898" y="503669"/>
                    <a:pt x="2084898" y="308089"/>
                    <a:pt x="2089487" y="206489"/>
                  </a:cubicBezTo>
                  <a:cubicBezTo>
                    <a:pt x="2113959" y="-38621"/>
                    <a:pt x="2401514" y="4559"/>
                    <a:pt x="2617180" y="749"/>
                  </a:cubicBezTo>
                  <a:cubicBezTo>
                    <a:pt x="2618710" y="749"/>
                    <a:pt x="2923089" y="749"/>
                    <a:pt x="2924619" y="749"/>
                  </a:cubicBezTo>
                  <a:cubicBezTo>
                    <a:pt x="3292758" y="15989"/>
                    <a:pt x="3196878" y="402069"/>
                    <a:pt x="3213703" y="595109"/>
                  </a:cubicBezTo>
                  <a:cubicBezTo>
                    <a:pt x="3213703" y="732269"/>
                    <a:pt x="3086750" y="855459"/>
                    <a:pt x="2921560" y="849109"/>
                  </a:cubicBezTo>
                  <a:cubicBezTo>
                    <a:pt x="2785430" y="846569"/>
                    <a:pt x="2517760" y="849109"/>
                    <a:pt x="2344921" y="849109"/>
                  </a:cubicBezTo>
                  <a:cubicBezTo>
                    <a:pt x="2274562" y="849109"/>
                    <a:pt x="2193496" y="910069"/>
                    <a:pt x="2121607" y="1016749"/>
                  </a:cubicBezTo>
                  <a:cubicBezTo>
                    <a:pt x="2100193" y="1048499"/>
                    <a:pt x="2087957" y="1085329"/>
                    <a:pt x="2086428" y="1123429"/>
                  </a:cubicBezTo>
                  <a:cubicBezTo>
                    <a:pt x="2081839" y="1203439"/>
                    <a:pt x="2083369" y="1285989"/>
                    <a:pt x="2084898" y="1365999"/>
                  </a:cubicBezTo>
                  <a:lnTo>
                    <a:pt x="2086428" y="1471409"/>
                  </a:lnTo>
                  <a:cubicBezTo>
                    <a:pt x="2087957" y="1625079"/>
                    <a:pt x="1957946" y="1724139"/>
                    <a:pt x="1791225" y="1725409"/>
                  </a:cubicBezTo>
                  <a:cubicBezTo>
                    <a:pt x="1791225" y="1725409"/>
                    <a:pt x="1367541" y="1725409"/>
                    <a:pt x="1367541" y="1725409"/>
                  </a:cubicBezTo>
                  <a:cubicBezTo>
                    <a:pt x="1214586" y="1725409"/>
                    <a:pt x="1070809" y="1796529"/>
                    <a:pt x="1066220" y="1933689"/>
                  </a:cubicBezTo>
                  <a:cubicBezTo>
                    <a:pt x="1060102" y="2042909"/>
                    <a:pt x="1066220" y="2174989"/>
                    <a:pt x="1064691" y="2285479"/>
                  </a:cubicBezTo>
                  <a:cubicBezTo>
                    <a:pt x="1063161" y="2442959"/>
                    <a:pt x="939268" y="2534399"/>
                    <a:pt x="728191" y="2535669"/>
                  </a:cubicBezTo>
                  <a:lnTo>
                    <a:pt x="373336" y="2535669"/>
                  </a:lnTo>
                  <a:cubicBezTo>
                    <a:pt x="240266" y="2538209"/>
                    <a:pt x="150022" y="2520429"/>
                    <a:pt x="84252" y="2415019"/>
                  </a:cubicBezTo>
                  <a:close/>
                  <a:moveTo>
                    <a:pt x="296859" y="1654289"/>
                  </a:moveTo>
                  <a:lnTo>
                    <a:pt x="702189" y="1654289"/>
                  </a:lnTo>
                  <a:cubicBezTo>
                    <a:pt x="887264" y="1654289"/>
                    <a:pt x="1006568" y="1555229"/>
                    <a:pt x="1006568" y="1401559"/>
                  </a:cubicBezTo>
                  <a:lnTo>
                    <a:pt x="1006568" y="1303769"/>
                  </a:lnTo>
                  <a:cubicBezTo>
                    <a:pt x="1005039" y="1219949"/>
                    <a:pt x="1005039" y="1133589"/>
                    <a:pt x="1009627" y="1049769"/>
                  </a:cubicBezTo>
                  <a:cubicBezTo>
                    <a:pt x="1014216" y="934199"/>
                    <a:pt x="1119754" y="837679"/>
                    <a:pt x="1266591" y="841489"/>
                  </a:cubicBezTo>
                  <a:cubicBezTo>
                    <a:pt x="1266591" y="841489"/>
                    <a:pt x="1717807" y="841489"/>
                    <a:pt x="1717807" y="841489"/>
                  </a:cubicBezTo>
                  <a:cubicBezTo>
                    <a:pt x="1717807" y="841489"/>
                    <a:pt x="1731573" y="841489"/>
                    <a:pt x="1731573" y="841489"/>
                  </a:cubicBezTo>
                  <a:cubicBezTo>
                    <a:pt x="1808050" y="840219"/>
                    <a:pt x="1878409" y="813549"/>
                    <a:pt x="1930414" y="769099"/>
                  </a:cubicBezTo>
                  <a:cubicBezTo>
                    <a:pt x="1982418" y="723379"/>
                    <a:pt x="2009950" y="663689"/>
                    <a:pt x="2008421" y="601459"/>
                  </a:cubicBezTo>
                  <a:lnTo>
                    <a:pt x="2008421" y="249669"/>
                  </a:lnTo>
                  <a:cubicBezTo>
                    <a:pt x="2006891" y="104889"/>
                    <a:pt x="1893705" y="9639"/>
                    <a:pt x="1719337" y="7099"/>
                  </a:cubicBezTo>
                  <a:cubicBezTo>
                    <a:pt x="1719337" y="7099"/>
                    <a:pt x="1569441" y="7099"/>
                    <a:pt x="1569441" y="7099"/>
                  </a:cubicBezTo>
                  <a:cubicBezTo>
                    <a:pt x="1460843" y="7099"/>
                    <a:pt x="1336950" y="7099"/>
                    <a:pt x="1249766" y="10909"/>
                  </a:cubicBezTo>
                  <a:cubicBezTo>
                    <a:pt x="1124343" y="15989"/>
                    <a:pt x="1014216" y="108699"/>
                    <a:pt x="1009627" y="211569"/>
                  </a:cubicBezTo>
                  <a:cubicBezTo>
                    <a:pt x="1006568" y="275069"/>
                    <a:pt x="1006568" y="339839"/>
                    <a:pt x="1005039" y="400799"/>
                  </a:cubicBezTo>
                  <a:cubicBezTo>
                    <a:pt x="1000450" y="454139"/>
                    <a:pt x="1011157" y="610349"/>
                    <a:pt x="992802" y="659879"/>
                  </a:cubicBezTo>
                  <a:cubicBezTo>
                    <a:pt x="939268" y="797039"/>
                    <a:pt x="784784" y="817359"/>
                    <a:pt x="699129" y="817359"/>
                  </a:cubicBezTo>
                  <a:cubicBezTo>
                    <a:pt x="699129" y="817359"/>
                    <a:pt x="295329" y="817359"/>
                    <a:pt x="295329" y="817359"/>
                  </a:cubicBezTo>
                  <a:cubicBezTo>
                    <a:pt x="211204" y="816089"/>
                    <a:pt x="130138" y="845299"/>
                    <a:pt x="72016" y="897369"/>
                  </a:cubicBezTo>
                  <a:cubicBezTo>
                    <a:pt x="-21463" y="982459"/>
                    <a:pt x="7775" y="1076439"/>
                    <a:pt x="1657" y="1181849"/>
                  </a:cubicBezTo>
                  <a:cubicBezTo>
                    <a:pt x="127" y="1265669"/>
                    <a:pt x="-1143" y="1349489"/>
                    <a:pt x="1657" y="1433309"/>
                  </a:cubicBezTo>
                  <a:cubicBezTo>
                    <a:pt x="10834" y="1561579"/>
                    <a:pt x="136257" y="1658099"/>
                    <a:pt x="296859" y="1654289"/>
                  </a:cubicBezTo>
                  <a:close/>
                  <a:moveTo>
                    <a:pt x="2491757" y="2573769"/>
                  </a:moveTo>
                  <a:cubicBezTo>
                    <a:pt x="2491757" y="2573769"/>
                    <a:pt x="3080632" y="2573769"/>
                    <a:pt x="3080632" y="2573769"/>
                  </a:cubicBezTo>
                  <a:cubicBezTo>
                    <a:pt x="3154050" y="2573769"/>
                    <a:pt x="3213703" y="2525509"/>
                    <a:pt x="3215232" y="2465819"/>
                  </a:cubicBezTo>
                  <a:cubicBezTo>
                    <a:pt x="3218291" y="2463279"/>
                    <a:pt x="3212173" y="1176769"/>
                    <a:pt x="3213703" y="1174229"/>
                  </a:cubicBezTo>
                  <a:cubicBezTo>
                    <a:pt x="3213703" y="1155179"/>
                    <a:pt x="3210644" y="1136129"/>
                    <a:pt x="3209114" y="1119619"/>
                  </a:cubicBezTo>
                  <a:cubicBezTo>
                    <a:pt x="3201466" y="1024369"/>
                    <a:pt x="3086750" y="916419"/>
                    <a:pt x="2933796" y="916419"/>
                  </a:cubicBezTo>
                  <a:cubicBezTo>
                    <a:pt x="2788489" y="913879"/>
                    <a:pt x="2615650" y="912609"/>
                    <a:pt x="2441282" y="916419"/>
                  </a:cubicBezTo>
                  <a:cubicBezTo>
                    <a:pt x="2283739" y="920229"/>
                    <a:pt x="2167493" y="1016749"/>
                    <a:pt x="2167493" y="1145019"/>
                  </a:cubicBezTo>
                  <a:lnTo>
                    <a:pt x="2167493" y="1316469"/>
                  </a:lnTo>
                  <a:lnTo>
                    <a:pt x="2165964" y="1552689"/>
                  </a:lnTo>
                  <a:cubicBezTo>
                    <a:pt x="2164434" y="1627619"/>
                    <a:pt x="2133843" y="1689849"/>
                    <a:pt x="2080309" y="1731759"/>
                  </a:cubicBezTo>
                  <a:cubicBezTo>
                    <a:pt x="2025246" y="1774939"/>
                    <a:pt x="1947239" y="1795259"/>
                    <a:pt x="1855466" y="1792719"/>
                  </a:cubicBezTo>
                  <a:cubicBezTo>
                    <a:pt x="1708630" y="1787639"/>
                    <a:pt x="1583207" y="1790179"/>
                    <a:pt x="1428723" y="1795259"/>
                  </a:cubicBezTo>
                  <a:cubicBezTo>
                    <a:pt x="1266591" y="1800339"/>
                    <a:pt x="1147286" y="1903209"/>
                    <a:pt x="1150345" y="2032749"/>
                  </a:cubicBezTo>
                  <a:cubicBezTo>
                    <a:pt x="1153404" y="2152129"/>
                    <a:pt x="1153404" y="2281669"/>
                    <a:pt x="1150345" y="2378189"/>
                  </a:cubicBezTo>
                  <a:cubicBezTo>
                    <a:pt x="1147286" y="2498839"/>
                    <a:pt x="1015745" y="2592819"/>
                    <a:pt x="850554" y="2592819"/>
                  </a:cubicBezTo>
                  <a:lnTo>
                    <a:pt x="437577" y="2592819"/>
                  </a:lnTo>
                  <a:cubicBezTo>
                    <a:pt x="284622" y="2585199"/>
                    <a:pt x="113313" y="2653779"/>
                    <a:pt x="107195" y="2789669"/>
                  </a:cubicBezTo>
                  <a:cubicBezTo>
                    <a:pt x="102607" y="2920479"/>
                    <a:pt x="101077" y="3052559"/>
                    <a:pt x="102607" y="3183369"/>
                  </a:cubicBezTo>
                  <a:cubicBezTo>
                    <a:pt x="104136" y="3229089"/>
                    <a:pt x="122491" y="3274809"/>
                    <a:pt x="151552" y="3315449"/>
                  </a:cubicBezTo>
                  <a:cubicBezTo>
                    <a:pt x="205086" y="3382759"/>
                    <a:pt x="292270" y="3417049"/>
                    <a:pt x="413104" y="3417049"/>
                  </a:cubicBezTo>
                  <a:cubicBezTo>
                    <a:pt x="413104" y="3417049"/>
                    <a:pt x="1242118" y="3417049"/>
                    <a:pt x="1242118" y="3417049"/>
                  </a:cubicBezTo>
                  <a:cubicBezTo>
                    <a:pt x="1445548" y="3415779"/>
                    <a:pt x="1855466" y="3417049"/>
                    <a:pt x="2058896" y="3417049"/>
                  </a:cubicBezTo>
                  <a:cubicBezTo>
                    <a:pt x="2149139" y="3417049"/>
                    <a:pt x="2222557" y="3356089"/>
                    <a:pt x="2222557" y="3281159"/>
                  </a:cubicBezTo>
                  <a:lnTo>
                    <a:pt x="2222557" y="2798559"/>
                  </a:lnTo>
                  <a:cubicBezTo>
                    <a:pt x="2221027" y="2676639"/>
                    <a:pt x="2341862" y="2573769"/>
                    <a:pt x="2491757" y="2573769"/>
                  </a:cubicBezTo>
                  <a:close/>
                  <a:moveTo>
                    <a:pt x="2981212" y="2632189"/>
                  </a:moveTo>
                  <a:lnTo>
                    <a:pt x="2545291" y="2632189"/>
                  </a:lnTo>
                  <a:cubicBezTo>
                    <a:pt x="2407632" y="2632189"/>
                    <a:pt x="2295975" y="2724899"/>
                    <a:pt x="2295975" y="2839199"/>
                  </a:cubicBezTo>
                  <a:lnTo>
                    <a:pt x="2295975" y="3201149"/>
                  </a:lnTo>
                  <a:cubicBezTo>
                    <a:pt x="2295975" y="3315449"/>
                    <a:pt x="2407632" y="3408159"/>
                    <a:pt x="2545291" y="3408159"/>
                  </a:cubicBezTo>
                  <a:lnTo>
                    <a:pt x="2981212" y="3408159"/>
                  </a:lnTo>
                  <a:cubicBezTo>
                    <a:pt x="3118871" y="3408159"/>
                    <a:pt x="3230528" y="3315449"/>
                    <a:pt x="3230528" y="3201149"/>
                  </a:cubicBezTo>
                  <a:lnTo>
                    <a:pt x="3230528" y="2839199"/>
                  </a:lnTo>
                  <a:cubicBezTo>
                    <a:pt x="3230528" y="2724899"/>
                    <a:pt x="3118871" y="2632189"/>
                    <a:pt x="2981212" y="2632189"/>
                  </a:cubicBezTo>
                  <a:close/>
                  <a:moveTo>
                    <a:pt x="273916" y="771639"/>
                  </a:moveTo>
                  <a:lnTo>
                    <a:pt x="693011" y="771639"/>
                  </a:lnTo>
                  <a:cubicBezTo>
                    <a:pt x="830670" y="771639"/>
                    <a:pt x="942327" y="678929"/>
                    <a:pt x="942327" y="564629"/>
                  </a:cubicBezTo>
                  <a:lnTo>
                    <a:pt x="942327" y="238239"/>
                  </a:lnTo>
                  <a:cubicBezTo>
                    <a:pt x="942327" y="123939"/>
                    <a:pt x="830670" y="31229"/>
                    <a:pt x="693011" y="31229"/>
                  </a:cubicBezTo>
                  <a:lnTo>
                    <a:pt x="273916" y="31229"/>
                  </a:lnTo>
                  <a:cubicBezTo>
                    <a:pt x="136257" y="31229"/>
                    <a:pt x="24600" y="123939"/>
                    <a:pt x="24600" y="238239"/>
                  </a:cubicBezTo>
                  <a:lnTo>
                    <a:pt x="24600" y="564629"/>
                  </a:lnTo>
                  <a:cubicBezTo>
                    <a:pt x="24600" y="678929"/>
                    <a:pt x="136257" y="771639"/>
                    <a:pt x="273916" y="771639"/>
                  </a:cubicBezTo>
                  <a:close/>
                </a:path>
              </a:pathLst>
            </a:custGeom>
            <a:blipFill>
              <a:blip r:embed="rId2"/>
              <a:stretch>
                <a:fillRect l="-2886" t="0" r="-2886" b="0"/>
              </a:stretch>
            </a:blipFill>
          </p:spPr>
        </p:sp>
      </p:grpSp>
      <p:grpSp>
        <p:nvGrpSpPr>
          <p:cNvPr name="Group 4" id="4"/>
          <p:cNvGrpSpPr/>
          <p:nvPr/>
        </p:nvGrpSpPr>
        <p:grpSpPr>
          <a:xfrm rot="0">
            <a:off x="442229" y="-717641"/>
            <a:ext cx="1847850" cy="1847850"/>
            <a:chOff x="0" y="0"/>
            <a:chExt cx="486677" cy="486677"/>
          </a:xfrm>
        </p:grpSpPr>
        <p:sp>
          <p:nvSpPr>
            <p:cNvPr name="Freeform 5" id="5"/>
            <p:cNvSpPr/>
            <p:nvPr/>
          </p:nvSpPr>
          <p:spPr>
            <a:xfrm flipH="false" flipV="false" rot="0">
              <a:off x="0" y="0"/>
              <a:ext cx="486677" cy="486677"/>
            </a:xfrm>
            <a:custGeom>
              <a:avLst/>
              <a:gdLst/>
              <a:ahLst/>
              <a:cxnLst/>
              <a:rect r="r" b="b" t="t" l="l"/>
              <a:pathLst>
                <a:path h="486677" w="486677">
                  <a:moveTo>
                    <a:pt x="243338" y="0"/>
                  </a:moveTo>
                  <a:lnTo>
                    <a:pt x="243338" y="0"/>
                  </a:lnTo>
                  <a:cubicBezTo>
                    <a:pt x="377730" y="0"/>
                    <a:pt x="486677" y="108946"/>
                    <a:pt x="486677" y="243338"/>
                  </a:cubicBezTo>
                  <a:lnTo>
                    <a:pt x="486677" y="243338"/>
                  </a:lnTo>
                  <a:cubicBezTo>
                    <a:pt x="486677" y="307876"/>
                    <a:pt x="461039" y="369770"/>
                    <a:pt x="415404" y="415404"/>
                  </a:cubicBezTo>
                  <a:cubicBezTo>
                    <a:pt x="369770" y="461039"/>
                    <a:pt x="307876" y="486677"/>
                    <a:pt x="243338" y="486677"/>
                  </a:cubicBezTo>
                  <a:lnTo>
                    <a:pt x="243338" y="486677"/>
                  </a:lnTo>
                  <a:cubicBezTo>
                    <a:pt x="178801" y="486677"/>
                    <a:pt x="116907" y="461039"/>
                    <a:pt x="71272" y="415404"/>
                  </a:cubicBezTo>
                  <a:cubicBezTo>
                    <a:pt x="25637" y="369770"/>
                    <a:pt x="0" y="307876"/>
                    <a:pt x="0" y="243338"/>
                  </a:cubicBezTo>
                  <a:lnTo>
                    <a:pt x="0" y="243338"/>
                  </a:lnTo>
                  <a:cubicBezTo>
                    <a:pt x="0" y="178801"/>
                    <a:pt x="25637" y="116907"/>
                    <a:pt x="71272" y="71272"/>
                  </a:cubicBezTo>
                  <a:cubicBezTo>
                    <a:pt x="116907" y="25637"/>
                    <a:pt x="178801" y="0"/>
                    <a:pt x="243338" y="0"/>
                  </a:cubicBezTo>
                  <a:close/>
                </a:path>
              </a:pathLst>
            </a:custGeom>
            <a:solidFill>
              <a:srgbClr val="4C8BA9"/>
            </a:solidFill>
          </p:spPr>
        </p:sp>
        <p:sp>
          <p:nvSpPr>
            <p:cNvPr name="TextBox 6" id="6"/>
            <p:cNvSpPr txBox="true"/>
            <p:nvPr/>
          </p:nvSpPr>
          <p:spPr>
            <a:xfrm>
              <a:off x="0" y="-38100"/>
              <a:ext cx="486677" cy="524777"/>
            </a:xfrm>
            <a:prstGeom prst="rect">
              <a:avLst/>
            </a:prstGeom>
          </p:spPr>
          <p:txBody>
            <a:bodyPr anchor="ctr" rtlCol="false" tIns="50800" lIns="50800" bIns="50800" rIns="50800"/>
            <a:lstStyle/>
            <a:p>
              <a:pPr algn="ctr">
                <a:lnSpc>
                  <a:spcPts val="3091"/>
                </a:lnSpc>
              </a:pPr>
            </a:p>
          </p:txBody>
        </p:sp>
      </p:grpSp>
      <p:grpSp>
        <p:nvGrpSpPr>
          <p:cNvPr name="Group 7" id="7"/>
          <p:cNvGrpSpPr/>
          <p:nvPr/>
        </p:nvGrpSpPr>
        <p:grpSpPr>
          <a:xfrm rot="0">
            <a:off x="8500972" y="7045615"/>
            <a:ext cx="1847850" cy="1847850"/>
            <a:chOff x="0" y="0"/>
            <a:chExt cx="486677" cy="486677"/>
          </a:xfrm>
        </p:grpSpPr>
        <p:sp>
          <p:nvSpPr>
            <p:cNvPr name="Freeform 8" id="8"/>
            <p:cNvSpPr/>
            <p:nvPr/>
          </p:nvSpPr>
          <p:spPr>
            <a:xfrm flipH="false" flipV="false" rot="0">
              <a:off x="0" y="0"/>
              <a:ext cx="486677" cy="486677"/>
            </a:xfrm>
            <a:custGeom>
              <a:avLst/>
              <a:gdLst/>
              <a:ahLst/>
              <a:cxnLst/>
              <a:rect r="r" b="b" t="t" l="l"/>
              <a:pathLst>
                <a:path h="486677" w="486677">
                  <a:moveTo>
                    <a:pt x="243338" y="0"/>
                  </a:moveTo>
                  <a:lnTo>
                    <a:pt x="243338" y="0"/>
                  </a:lnTo>
                  <a:cubicBezTo>
                    <a:pt x="377730" y="0"/>
                    <a:pt x="486677" y="108946"/>
                    <a:pt x="486677" y="243338"/>
                  </a:cubicBezTo>
                  <a:lnTo>
                    <a:pt x="486677" y="243338"/>
                  </a:lnTo>
                  <a:cubicBezTo>
                    <a:pt x="486677" y="307876"/>
                    <a:pt x="461039" y="369770"/>
                    <a:pt x="415404" y="415404"/>
                  </a:cubicBezTo>
                  <a:cubicBezTo>
                    <a:pt x="369770" y="461039"/>
                    <a:pt x="307876" y="486677"/>
                    <a:pt x="243338" y="486677"/>
                  </a:cubicBezTo>
                  <a:lnTo>
                    <a:pt x="243338" y="486677"/>
                  </a:lnTo>
                  <a:cubicBezTo>
                    <a:pt x="178801" y="486677"/>
                    <a:pt x="116907" y="461039"/>
                    <a:pt x="71272" y="415404"/>
                  </a:cubicBezTo>
                  <a:cubicBezTo>
                    <a:pt x="25637" y="369770"/>
                    <a:pt x="0" y="307876"/>
                    <a:pt x="0" y="243338"/>
                  </a:cubicBezTo>
                  <a:lnTo>
                    <a:pt x="0" y="243338"/>
                  </a:lnTo>
                  <a:cubicBezTo>
                    <a:pt x="0" y="178801"/>
                    <a:pt x="25637" y="116907"/>
                    <a:pt x="71272" y="71272"/>
                  </a:cubicBezTo>
                  <a:cubicBezTo>
                    <a:pt x="116907" y="25637"/>
                    <a:pt x="178801" y="0"/>
                    <a:pt x="243338" y="0"/>
                  </a:cubicBezTo>
                  <a:close/>
                </a:path>
              </a:pathLst>
            </a:custGeom>
            <a:solidFill>
              <a:srgbClr val="4C8BA9"/>
            </a:solidFill>
          </p:spPr>
        </p:sp>
        <p:sp>
          <p:nvSpPr>
            <p:cNvPr name="TextBox 9" id="9"/>
            <p:cNvSpPr txBox="true"/>
            <p:nvPr/>
          </p:nvSpPr>
          <p:spPr>
            <a:xfrm>
              <a:off x="0" y="-38100"/>
              <a:ext cx="486677" cy="524777"/>
            </a:xfrm>
            <a:prstGeom prst="rect">
              <a:avLst/>
            </a:prstGeom>
          </p:spPr>
          <p:txBody>
            <a:bodyPr anchor="ctr" rtlCol="false" tIns="50800" lIns="50800" bIns="50800" rIns="50800"/>
            <a:lstStyle/>
            <a:p>
              <a:pPr algn="ctr">
                <a:lnSpc>
                  <a:spcPts val="3091"/>
                </a:lnSpc>
              </a:pPr>
            </a:p>
          </p:txBody>
        </p:sp>
      </p:grpSp>
      <p:sp>
        <p:nvSpPr>
          <p:cNvPr name="TextBox 10" id="10"/>
          <p:cNvSpPr txBox="true"/>
          <p:nvPr/>
        </p:nvSpPr>
        <p:spPr>
          <a:xfrm rot="0">
            <a:off x="1028700" y="1736712"/>
            <a:ext cx="7556890" cy="1557672"/>
          </a:xfrm>
          <a:prstGeom prst="rect">
            <a:avLst/>
          </a:prstGeom>
        </p:spPr>
        <p:txBody>
          <a:bodyPr anchor="t" rtlCol="false" tIns="0" lIns="0" bIns="0" rIns="0">
            <a:spAutoFit/>
          </a:bodyPr>
          <a:lstStyle/>
          <a:p>
            <a:pPr algn="l">
              <a:lnSpc>
                <a:spcPts val="6033"/>
              </a:lnSpc>
            </a:pPr>
            <a:r>
              <a:rPr lang="en-US" b="true" sz="5535">
                <a:solidFill>
                  <a:srgbClr val="272D45"/>
                </a:solidFill>
                <a:latin typeface="ฟ้อนต์ Bold"/>
                <a:ea typeface="ฟ้อนต์ Bold"/>
                <a:cs typeface="ฟ้อนต์ Bold"/>
                <a:sym typeface="ฟ้อนต์ Bold"/>
              </a:rPr>
              <a:t>Analisis Kompa</a:t>
            </a:r>
            <a:r>
              <a:rPr lang="en-US" b="true" sz="5535">
                <a:solidFill>
                  <a:srgbClr val="272D45"/>
                </a:solidFill>
                <a:latin typeface="ฟ้อนต์ Bold"/>
                <a:ea typeface="ฟ้อนต์ Bold"/>
                <a:cs typeface="ฟ้อนต์ Bold"/>
                <a:sym typeface="ฟ้อนต์ Bold"/>
              </a:rPr>
              <a:t>rasi Algoritma Hash</a:t>
            </a:r>
          </a:p>
        </p:txBody>
      </p:sp>
      <p:sp>
        <p:nvSpPr>
          <p:cNvPr name="TextBox 11" id="11"/>
          <p:cNvSpPr txBox="true"/>
          <p:nvPr/>
        </p:nvSpPr>
        <p:spPr>
          <a:xfrm rot="0">
            <a:off x="1028700" y="3465834"/>
            <a:ext cx="7029395" cy="1557672"/>
          </a:xfrm>
          <a:prstGeom prst="rect">
            <a:avLst/>
          </a:prstGeom>
        </p:spPr>
        <p:txBody>
          <a:bodyPr anchor="t" rtlCol="false" tIns="0" lIns="0" bIns="0" rIns="0">
            <a:spAutoFit/>
          </a:bodyPr>
          <a:lstStyle/>
          <a:p>
            <a:pPr algn="l">
              <a:lnSpc>
                <a:spcPts val="6033"/>
              </a:lnSpc>
            </a:pPr>
            <a:r>
              <a:rPr lang="en-US" b="true" sz="5535">
                <a:solidFill>
                  <a:srgbClr val="4C8BA9"/>
                </a:solidFill>
                <a:latin typeface="ฟ้อนต์ Bold"/>
                <a:ea typeface="ฟ้อนต์ Bold"/>
                <a:cs typeface="ฟ้อนต์ Bold"/>
                <a:sym typeface="ฟ้อนต์ Bold"/>
              </a:rPr>
              <a:t>(MD5, SHA-2, SHA-3, SHA-512) </a:t>
            </a:r>
          </a:p>
        </p:txBody>
      </p:sp>
      <p:sp>
        <p:nvSpPr>
          <p:cNvPr name="TextBox 12" id="12"/>
          <p:cNvSpPr txBox="true"/>
          <p:nvPr/>
        </p:nvSpPr>
        <p:spPr>
          <a:xfrm rot="0">
            <a:off x="1038225" y="8279942"/>
            <a:ext cx="7029395" cy="369930"/>
          </a:xfrm>
          <a:prstGeom prst="rect">
            <a:avLst/>
          </a:prstGeom>
        </p:spPr>
        <p:txBody>
          <a:bodyPr anchor="t" rtlCol="false" tIns="0" lIns="0" bIns="0" rIns="0">
            <a:spAutoFit/>
          </a:bodyPr>
          <a:lstStyle/>
          <a:p>
            <a:pPr algn="l">
              <a:lnSpc>
                <a:spcPts val="3089"/>
              </a:lnSpc>
            </a:pPr>
            <a:r>
              <a:rPr lang="en-US" sz="1939">
                <a:solidFill>
                  <a:srgbClr val="2C3249"/>
                </a:solidFill>
                <a:latin typeface="Canva Sans"/>
                <a:ea typeface="Canva Sans"/>
                <a:cs typeface="Canva Sans"/>
                <a:sym typeface="Canva Sans"/>
              </a:rPr>
              <a:t>Di</a:t>
            </a:r>
            <a:r>
              <a:rPr lang="en-US" sz="1939">
                <a:solidFill>
                  <a:srgbClr val="2C3249"/>
                </a:solidFill>
                <a:latin typeface="Canva Sans"/>
                <a:ea typeface="Canva Sans"/>
                <a:cs typeface="Canva Sans"/>
                <a:sym typeface="Canva Sans"/>
              </a:rPr>
              <a:t>ni Febryana Sari, Athirah Media Sari, Inayatul Janah, </a:t>
            </a:r>
          </a:p>
        </p:txBody>
      </p:sp>
      <p:sp>
        <p:nvSpPr>
          <p:cNvPr name="TextBox 13" id="13"/>
          <p:cNvSpPr txBox="true"/>
          <p:nvPr/>
        </p:nvSpPr>
        <p:spPr>
          <a:xfrm rot="0">
            <a:off x="1028700" y="5191125"/>
            <a:ext cx="7556890" cy="2321659"/>
          </a:xfrm>
          <a:prstGeom prst="rect">
            <a:avLst/>
          </a:prstGeom>
        </p:spPr>
        <p:txBody>
          <a:bodyPr anchor="t" rtlCol="false" tIns="0" lIns="0" bIns="0" rIns="0">
            <a:spAutoFit/>
          </a:bodyPr>
          <a:lstStyle/>
          <a:p>
            <a:pPr algn="l">
              <a:lnSpc>
                <a:spcPts val="6033"/>
              </a:lnSpc>
            </a:pPr>
            <a:r>
              <a:rPr lang="en-US" b="true" sz="5535">
                <a:solidFill>
                  <a:srgbClr val="272D45"/>
                </a:solidFill>
                <a:latin typeface="ฟ้อนต์ Bold"/>
                <a:ea typeface="ฟ้อนต์ Bold"/>
                <a:cs typeface="ฟ้อนต์ Bold"/>
                <a:sym typeface="ฟ้อนต์ Bold"/>
              </a:rPr>
              <a:t>dan Teknik Salting untuk Peningkatan Keaman</a:t>
            </a:r>
            <a:r>
              <a:rPr lang="en-US" b="true" sz="5535">
                <a:solidFill>
                  <a:srgbClr val="272D45"/>
                </a:solidFill>
                <a:latin typeface="ฟ้อนต์ Bold"/>
                <a:ea typeface="ฟ้อนต์ Bold"/>
                <a:cs typeface="ฟ้อนต์ Bold"/>
                <a:sym typeface="ฟ้อนต์ Bold"/>
              </a:rPr>
              <a:t>an Data.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95750" y="398202"/>
            <a:ext cx="8100677" cy="10092480"/>
            <a:chOff x="0" y="0"/>
            <a:chExt cx="6089650" cy="7586980"/>
          </a:xfrm>
        </p:grpSpPr>
        <p:sp>
          <p:nvSpPr>
            <p:cNvPr name="Freeform 3" id="3"/>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solidFill>
              <a:srgbClr val="86FCF1"/>
            </a:solidFill>
            <a:ln w="12700">
              <a:solidFill>
                <a:srgbClr val="000000"/>
              </a:solidFill>
            </a:ln>
          </p:spPr>
        </p:sp>
      </p:grpSp>
      <p:grpSp>
        <p:nvGrpSpPr>
          <p:cNvPr name="Group 4" id="4"/>
          <p:cNvGrpSpPr/>
          <p:nvPr/>
        </p:nvGrpSpPr>
        <p:grpSpPr>
          <a:xfrm rot="0">
            <a:off x="10895750" y="423120"/>
            <a:ext cx="8100677" cy="10092480"/>
            <a:chOff x="0" y="0"/>
            <a:chExt cx="6089650" cy="7586980"/>
          </a:xfrm>
        </p:grpSpPr>
        <p:sp>
          <p:nvSpPr>
            <p:cNvPr name="Freeform 5" id="5"/>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blipFill>
              <a:blip r:embed="rId2">
                <a:alphaModFix amt="31000"/>
              </a:blip>
              <a:stretch>
                <a:fillRect l="-13658" t="0" r="-136277" b="-100688"/>
              </a:stretch>
            </a:blipFill>
          </p:spPr>
        </p:sp>
      </p:grpSp>
      <p:sp>
        <p:nvSpPr>
          <p:cNvPr name="TextBox 6" id="6"/>
          <p:cNvSpPr txBox="true"/>
          <p:nvPr/>
        </p:nvSpPr>
        <p:spPr>
          <a:xfrm rot="0">
            <a:off x="1119247" y="1570073"/>
            <a:ext cx="4426909"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000000"/>
                </a:solidFill>
                <a:latin typeface="ฟ้อนต์ Bold"/>
                <a:ea typeface="ฟ้อนต์ Bold"/>
                <a:cs typeface="ฟ้อนต์ Bold"/>
                <a:sym typeface="ฟ้อนต์ Bold"/>
              </a:rPr>
              <a:t>Latar</a:t>
            </a:r>
          </a:p>
        </p:txBody>
      </p:sp>
      <p:sp>
        <p:nvSpPr>
          <p:cNvPr name="TextBox 7" id="7"/>
          <p:cNvSpPr txBox="true"/>
          <p:nvPr/>
        </p:nvSpPr>
        <p:spPr>
          <a:xfrm rot="0">
            <a:off x="3332701" y="1570073"/>
            <a:ext cx="5026095"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93A8C4"/>
                </a:solidFill>
                <a:latin typeface="ฟ้อนต์ Bold"/>
                <a:ea typeface="ฟ้อนต์ Bold"/>
                <a:cs typeface="ฟ้อนต์ Bold"/>
                <a:sym typeface="ฟ้อนต์ Bold"/>
              </a:rPr>
              <a:t>Belakang</a:t>
            </a:r>
          </a:p>
        </p:txBody>
      </p:sp>
      <p:sp>
        <p:nvSpPr>
          <p:cNvPr name="TextBox 8" id="8"/>
          <p:cNvSpPr txBox="true"/>
          <p:nvPr/>
        </p:nvSpPr>
        <p:spPr>
          <a:xfrm rot="0">
            <a:off x="1119247" y="2664878"/>
            <a:ext cx="9076990" cy="6994525"/>
          </a:xfrm>
          <a:prstGeom prst="rect">
            <a:avLst/>
          </a:prstGeom>
        </p:spPr>
        <p:txBody>
          <a:bodyPr anchor="t" rtlCol="false" tIns="0" lIns="0" bIns="0" rIns="0">
            <a:spAutoFit/>
          </a:bodyPr>
          <a:lstStyle/>
          <a:p>
            <a:pPr algn="just">
              <a:lnSpc>
                <a:spcPts val="3499"/>
              </a:lnSpc>
            </a:pPr>
            <a:r>
              <a:rPr lang="en-US" sz="2499">
                <a:solidFill>
                  <a:srgbClr val="2C3249"/>
                </a:solidFill>
                <a:latin typeface="Canva Sans"/>
                <a:ea typeface="Canva Sans"/>
                <a:cs typeface="Canva Sans"/>
                <a:sym typeface="Canva Sans"/>
              </a:rPr>
              <a:t>Keamanan data pada sistem digital kini menghadapi tantangan yang semakin kompleks seiring pesatnya transformasi digital, sebagaimana diungkapkan oleh </a:t>
            </a:r>
            <a:r>
              <a:rPr lang="en-US" sz="2499" b="true">
                <a:solidFill>
                  <a:srgbClr val="2C3249"/>
                </a:solidFill>
                <a:latin typeface="Canva Sans Bold"/>
                <a:ea typeface="Canva Sans Bold"/>
                <a:cs typeface="Canva Sans Bold"/>
                <a:sym typeface="Canva Sans Bold"/>
              </a:rPr>
              <a:t>Agusniar et al. (2025)</a:t>
            </a:r>
            <a:r>
              <a:rPr lang="en-US" sz="2499">
                <a:solidFill>
                  <a:srgbClr val="2C3249"/>
                </a:solidFill>
                <a:latin typeface="Canva Sans"/>
                <a:ea typeface="Canva Sans"/>
                <a:cs typeface="Canva Sans"/>
                <a:sym typeface="Canva Sans"/>
              </a:rPr>
              <a:t> Risiko ini diperparah dengan seringnya insiden siber yang terjadi akibat lemahnya pengelolaan kredensial kata sandi, seperti yang ditemukan dalam studi</a:t>
            </a:r>
            <a:r>
              <a:rPr lang="en-US" sz="2499" b="true">
                <a:solidFill>
                  <a:srgbClr val="2C3249"/>
                </a:solidFill>
                <a:latin typeface="Canva Sans Bold"/>
                <a:ea typeface="Canva Sans Bold"/>
                <a:cs typeface="Canva Sans Bold"/>
                <a:sym typeface="Canva Sans Bold"/>
              </a:rPr>
              <a:t> Natho et al. (2024).</a:t>
            </a:r>
          </a:p>
          <a:p>
            <a:pPr algn="just">
              <a:lnSpc>
                <a:spcPts val="3499"/>
              </a:lnSpc>
            </a:pPr>
            <a:r>
              <a:rPr lang="en-US" sz="2499">
                <a:solidFill>
                  <a:srgbClr val="2C3249"/>
                </a:solidFill>
                <a:latin typeface="Canva Sans"/>
                <a:ea typeface="Canva Sans"/>
                <a:cs typeface="Canva Sans"/>
                <a:sym typeface="Canva Sans"/>
              </a:rPr>
              <a:t>Sayangnya, di tengah ancaman ini, masih banyak sistem yang mempertahankan algoritma lawas seperti MD5 dan SHA-1. Padahal, </a:t>
            </a:r>
            <a:r>
              <a:rPr lang="en-US" b="true" sz="2499">
                <a:solidFill>
                  <a:srgbClr val="2C3249"/>
                </a:solidFill>
                <a:latin typeface="Canva Sans Bold"/>
                <a:ea typeface="Canva Sans Bold"/>
                <a:cs typeface="Canva Sans Bold"/>
                <a:sym typeface="Canva Sans Bold"/>
              </a:rPr>
              <a:t>Rahim et al. (2023)</a:t>
            </a:r>
            <a:r>
              <a:rPr lang="en-US" sz="2499">
                <a:solidFill>
                  <a:srgbClr val="2C3249"/>
                </a:solidFill>
                <a:latin typeface="Canva Sans"/>
                <a:ea typeface="Canva Sans"/>
                <a:cs typeface="Canva Sans"/>
                <a:sym typeface="Canva Sans"/>
              </a:rPr>
              <a:t>  telah membuktikan bahwa algoritma tersebut memiliki kerentanan tinggi terhadap serangan kriptografi modern. Oleh karena itu, penelitian ini berfokus mengevaluasi algoritma hash modern dan efektivitas teknik salting sebagai solusi keamanan yang lebih handal.</a:t>
            </a:r>
          </a:p>
          <a:p>
            <a:pPr algn="just">
              <a:lnSpc>
                <a:spcPts val="34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FFFFFF"/>
            </a:solidFill>
          </p:spPr>
        </p:sp>
        <p:sp>
          <p:nvSpPr>
            <p:cNvPr name="TextBox 5" id="5"/>
            <p:cNvSpPr txBox="true"/>
            <p:nvPr/>
          </p:nvSpPr>
          <p:spPr>
            <a:xfrm>
              <a:off x="0" y="-38100"/>
              <a:ext cx="4816593" cy="850900"/>
            </a:xfrm>
            <a:prstGeom prst="rect">
              <a:avLst/>
            </a:prstGeom>
          </p:spPr>
          <p:txBody>
            <a:bodyPr anchor="ctr" rtlCol="false" tIns="50800" lIns="50800" bIns="50800" rIns="50800"/>
            <a:lstStyle/>
            <a:p>
              <a:pPr algn="ctr">
                <a:lnSpc>
                  <a:spcPts val="3091"/>
                </a:lnSpc>
              </a:pPr>
            </a:p>
          </p:txBody>
        </p:sp>
      </p:grpSp>
      <p:grpSp>
        <p:nvGrpSpPr>
          <p:cNvPr name="Group 6" id="6"/>
          <p:cNvGrpSpPr/>
          <p:nvPr/>
        </p:nvGrpSpPr>
        <p:grpSpPr>
          <a:xfrm rot="0">
            <a:off x="0" y="8298180"/>
            <a:ext cx="18288000" cy="1988820"/>
            <a:chOff x="0" y="0"/>
            <a:chExt cx="4816593" cy="523804"/>
          </a:xfrm>
        </p:grpSpPr>
        <p:sp>
          <p:nvSpPr>
            <p:cNvPr name="Freeform 7" id="7"/>
            <p:cNvSpPr/>
            <p:nvPr/>
          </p:nvSpPr>
          <p:spPr>
            <a:xfrm flipH="false" flipV="false" rot="0">
              <a:off x="0" y="0"/>
              <a:ext cx="4816592" cy="523804"/>
            </a:xfrm>
            <a:custGeom>
              <a:avLst/>
              <a:gdLst/>
              <a:ahLst/>
              <a:cxnLst/>
              <a:rect r="r" b="b" t="t" l="l"/>
              <a:pathLst>
                <a:path h="523804" w="4816592">
                  <a:moveTo>
                    <a:pt x="0" y="0"/>
                  </a:moveTo>
                  <a:lnTo>
                    <a:pt x="4816592" y="0"/>
                  </a:lnTo>
                  <a:lnTo>
                    <a:pt x="4816592" y="523804"/>
                  </a:lnTo>
                  <a:lnTo>
                    <a:pt x="0" y="523804"/>
                  </a:lnTo>
                  <a:close/>
                </a:path>
              </a:pathLst>
            </a:custGeom>
            <a:solidFill>
              <a:srgbClr val="FFFFFF"/>
            </a:solidFill>
          </p:spPr>
        </p:sp>
        <p:sp>
          <p:nvSpPr>
            <p:cNvPr name="TextBox 8" id="8"/>
            <p:cNvSpPr txBox="true"/>
            <p:nvPr/>
          </p:nvSpPr>
          <p:spPr>
            <a:xfrm>
              <a:off x="0" y="-38100"/>
              <a:ext cx="4816593" cy="561904"/>
            </a:xfrm>
            <a:prstGeom prst="rect">
              <a:avLst/>
            </a:prstGeom>
          </p:spPr>
          <p:txBody>
            <a:bodyPr anchor="ctr" rtlCol="false" tIns="50800" lIns="50800" bIns="50800" rIns="50800"/>
            <a:lstStyle/>
            <a:p>
              <a:pPr algn="ctr">
                <a:lnSpc>
                  <a:spcPts val="3091"/>
                </a:lnSpc>
              </a:pPr>
            </a:p>
          </p:txBody>
        </p:sp>
      </p:grpSp>
      <p:sp>
        <p:nvSpPr>
          <p:cNvPr name="TextBox 9" id="9"/>
          <p:cNvSpPr txBox="true"/>
          <p:nvPr/>
        </p:nvSpPr>
        <p:spPr>
          <a:xfrm rot="0">
            <a:off x="4467817" y="1116647"/>
            <a:ext cx="4676183"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272D45"/>
                </a:solidFill>
                <a:latin typeface="ฟ้อนต์ Bold"/>
                <a:ea typeface="ฟ้อนต์ Bold"/>
                <a:cs typeface="ฟ้อนต์ Bold"/>
                <a:sym typeface="ฟ้อนต์ Bold"/>
              </a:rPr>
              <a:t>Metodologi</a:t>
            </a:r>
          </a:p>
        </p:txBody>
      </p:sp>
      <p:sp>
        <p:nvSpPr>
          <p:cNvPr name="TextBox 10" id="10"/>
          <p:cNvSpPr txBox="true"/>
          <p:nvPr/>
        </p:nvSpPr>
        <p:spPr>
          <a:xfrm rot="0">
            <a:off x="9144000" y="1116647"/>
            <a:ext cx="6408130"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5ED5CA"/>
                </a:solidFill>
                <a:latin typeface="ฟ้อนต์ Bold"/>
                <a:ea typeface="ฟ้อนต์ Bold"/>
                <a:cs typeface="ฟ้อนต์ Bold"/>
                <a:sym typeface="ฟ้อนต์ Bold"/>
              </a:rPr>
              <a:t>Penelitian </a:t>
            </a:r>
          </a:p>
        </p:txBody>
      </p:sp>
      <p:sp>
        <p:nvSpPr>
          <p:cNvPr name="TextBox 11" id="11"/>
          <p:cNvSpPr txBox="true"/>
          <p:nvPr/>
        </p:nvSpPr>
        <p:spPr>
          <a:xfrm rot="0">
            <a:off x="700614"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Pendekatan</a:t>
            </a:r>
          </a:p>
          <a:p>
            <a:pPr algn="ctr">
              <a:lnSpc>
                <a:spcPts val="3982"/>
              </a:lnSpc>
            </a:pPr>
            <a:r>
              <a:rPr lang="en-US" sz="2499">
                <a:solidFill>
                  <a:srgbClr val="2C3249"/>
                </a:solidFill>
                <a:latin typeface="Canva Sans"/>
                <a:ea typeface="Canva Sans"/>
                <a:cs typeface="Canva Sans"/>
                <a:sym typeface="Canva Sans"/>
              </a:rPr>
              <a:t>Eksperimental melalui simulasi komputasi untuk mengukur performa waktu eksekusi (execution time).</a:t>
            </a:r>
          </a:p>
        </p:txBody>
      </p:sp>
      <p:sp>
        <p:nvSpPr>
          <p:cNvPr name="TextBox 12" id="12"/>
          <p:cNvSpPr txBox="true"/>
          <p:nvPr/>
        </p:nvSpPr>
        <p:spPr>
          <a:xfrm rot="0">
            <a:off x="5143561"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Alat &amp; Li</a:t>
            </a:r>
            <a:r>
              <a:rPr lang="en-US" b="true" sz="2499">
                <a:solidFill>
                  <a:srgbClr val="2C3249"/>
                </a:solidFill>
                <a:latin typeface="Canva Sans Bold"/>
                <a:ea typeface="Canva Sans Bold"/>
                <a:cs typeface="Canva Sans Bold"/>
                <a:sym typeface="Canva Sans Bold"/>
              </a:rPr>
              <a:t>ngkungan</a:t>
            </a:r>
          </a:p>
          <a:p>
            <a:pPr algn="ctr">
              <a:lnSpc>
                <a:spcPts val="3982"/>
              </a:lnSpc>
            </a:pPr>
            <a:r>
              <a:rPr lang="en-US" b="true" sz="2499">
                <a:solidFill>
                  <a:srgbClr val="2C3249"/>
                </a:solidFill>
                <a:latin typeface="Canva Sans Bold"/>
                <a:ea typeface="Canva Sans Bold"/>
                <a:cs typeface="Canva Sans Bold"/>
                <a:sym typeface="Canva Sans Bold"/>
              </a:rPr>
              <a:t> </a:t>
            </a:r>
            <a:r>
              <a:rPr lang="en-US" sz="2499">
                <a:solidFill>
                  <a:srgbClr val="2C3249"/>
                </a:solidFill>
                <a:latin typeface="Canva Sans"/>
                <a:ea typeface="Canva Sans"/>
                <a:cs typeface="Canva Sans"/>
                <a:sym typeface="Canva Sans"/>
              </a:rPr>
              <a:t>Bahasa pemrograman Python (pustaka hashlib) yang dijalankan pada sistem operasi Linux (Ubuntu).</a:t>
            </a:r>
          </a:p>
        </p:txBody>
      </p:sp>
      <p:sp>
        <p:nvSpPr>
          <p:cNvPr name="TextBox 13" id="13"/>
          <p:cNvSpPr txBox="true"/>
          <p:nvPr/>
        </p:nvSpPr>
        <p:spPr>
          <a:xfrm rot="0">
            <a:off x="9144000"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Skenario Pe</a:t>
            </a:r>
            <a:r>
              <a:rPr lang="en-US" b="true" sz="2499">
                <a:solidFill>
                  <a:srgbClr val="2C3249"/>
                </a:solidFill>
                <a:latin typeface="Canva Sans Bold"/>
                <a:ea typeface="Canva Sans Bold"/>
                <a:cs typeface="Canva Sans Bold"/>
                <a:sym typeface="Canva Sans Bold"/>
              </a:rPr>
              <a:t>ngujian </a:t>
            </a:r>
            <a:r>
              <a:rPr lang="en-US" sz="2499">
                <a:solidFill>
                  <a:srgbClr val="2C3249"/>
                </a:solidFill>
                <a:latin typeface="Canva Sans"/>
                <a:ea typeface="Canva Sans"/>
                <a:cs typeface="Canva Sans"/>
                <a:sym typeface="Canva Sans"/>
              </a:rPr>
              <a:t>Melakukan proses enkripsi (hashing) berulang sebanyak 100.000 iterasi untuk setiap algoritma.</a:t>
            </a:r>
          </a:p>
        </p:txBody>
      </p:sp>
      <p:sp>
        <p:nvSpPr>
          <p:cNvPr name="TextBox 14" id="14"/>
          <p:cNvSpPr txBox="true"/>
          <p:nvPr/>
        </p:nvSpPr>
        <p:spPr>
          <a:xfrm rot="0">
            <a:off x="13051266" y="3387566"/>
            <a:ext cx="5001727" cy="5018723"/>
          </a:xfrm>
          <a:prstGeom prst="rect">
            <a:avLst/>
          </a:prstGeom>
        </p:spPr>
        <p:txBody>
          <a:bodyPr anchor="t" rtlCol="false" tIns="0" lIns="0" bIns="0" rIns="0">
            <a:spAutoFit/>
          </a:bodyPr>
          <a:lstStyle/>
          <a:p>
            <a:pPr algn="ctr">
              <a:lnSpc>
                <a:spcPts val="3982"/>
              </a:lnSpc>
            </a:pPr>
            <a:r>
              <a:rPr lang="en-US" sz="2499" b="true">
                <a:solidFill>
                  <a:srgbClr val="2C3249"/>
                </a:solidFill>
                <a:latin typeface="Canva Sans Bold"/>
                <a:ea typeface="Canva Sans Bold"/>
                <a:cs typeface="Canva Sans Bold"/>
                <a:sym typeface="Canva Sans Bold"/>
              </a:rPr>
              <a:t>Mekanisme Salting </a:t>
            </a:r>
          </a:p>
          <a:p>
            <a:pPr algn="ctr">
              <a:lnSpc>
                <a:spcPts val="3982"/>
              </a:lnSpc>
            </a:pPr>
            <a:r>
              <a:rPr lang="en-US" sz="2499">
                <a:solidFill>
                  <a:srgbClr val="2C3249"/>
                </a:solidFill>
                <a:latin typeface="Canva Sans"/>
                <a:ea typeface="Canva Sans"/>
                <a:cs typeface="Canva Sans"/>
                <a:sym typeface="Canva Sans"/>
              </a:rPr>
              <a:t>Menerapkan model ke</a:t>
            </a:r>
            <a:r>
              <a:rPr lang="en-US" sz="2499">
                <a:solidFill>
                  <a:srgbClr val="2C3249"/>
                </a:solidFill>
                <a:latin typeface="Canva Sans"/>
                <a:ea typeface="Canva Sans"/>
                <a:cs typeface="Canva Sans"/>
                <a:sym typeface="Canva Sans"/>
              </a:rPr>
              <a:t>amanan hibrida menggunakan SHA-512 yang dikombinasikan dengan Teknik Salting, merujuk pada model yang disarankan oleh </a:t>
            </a:r>
            <a:r>
              <a:rPr lang="en-US" b="true" sz="2499">
                <a:solidFill>
                  <a:srgbClr val="2C3249"/>
                </a:solidFill>
                <a:latin typeface="Canva Sans Bold"/>
                <a:ea typeface="Canva Sans Bold"/>
                <a:cs typeface="Canva Sans Bold"/>
                <a:sym typeface="Canva Sans Bold"/>
              </a:rPr>
              <a:t>Aranuwa et al. (2022)</a:t>
            </a:r>
            <a:r>
              <a:rPr lang="en-US" sz="2499">
                <a:solidFill>
                  <a:srgbClr val="2C3249"/>
                </a:solidFill>
                <a:latin typeface="Canva Sans"/>
                <a:ea typeface="Canva Sans"/>
                <a:cs typeface="Canva Sans"/>
                <a:sym typeface="Canva Sans"/>
              </a:rPr>
              <a:t> untuk meningkatkan kompleksitas serangan.</a:t>
            </a:r>
          </a:p>
          <a:p>
            <a:pPr algn="ctr">
              <a:lnSpc>
                <a:spcPts val="398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37662" y="628496"/>
            <a:ext cx="8100677" cy="10092480"/>
            <a:chOff x="0" y="0"/>
            <a:chExt cx="6089650" cy="7586980"/>
          </a:xfrm>
        </p:grpSpPr>
        <p:sp>
          <p:nvSpPr>
            <p:cNvPr name="Freeform 3" id="3"/>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solidFill>
              <a:srgbClr val="86FCF1"/>
            </a:solidFill>
            <a:ln w="12700">
              <a:solidFill>
                <a:srgbClr val="000000"/>
              </a:solidFill>
            </a:ln>
          </p:spPr>
        </p:sp>
      </p:grpSp>
      <p:grpSp>
        <p:nvGrpSpPr>
          <p:cNvPr name="Group 4" id="4"/>
          <p:cNvGrpSpPr/>
          <p:nvPr/>
        </p:nvGrpSpPr>
        <p:grpSpPr>
          <a:xfrm rot="0">
            <a:off x="14237662" y="628496"/>
            <a:ext cx="8100677" cy="10092480"/>
            <a:chOff x="0" y="0"/>
            <a:chExt cx="6089650" cy="7586980"/>
          </a:xfrm>
        </p:grpSpPr>
        <p:sp>
          <p:nvSpPr>
            <p:cNvPr name="Freeform 5" id="5"/>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blipFill>
              <a:blip r:embed="rId2">
                <a:alphaModFix amt="31000"/>
              </a:blip>
              <a:stretch>
                <a:fillRect l="-14951" t="-100688" r="-134985" b="0"/>
              </a:stretch>
            </a:blipFill>
          </p:spPr>
        </p:sp>
      </p:grpSp>
      <p:sp>
        <p:nvSpPr>
          <p:cNvPr name="Freeform 6" id="6"/>
          <p:cNvSpPr/>
          <p:nvPr/>
        </p:nvSpPr>
        <p:spPr>
          <a:xfrm flipH="false" flipV="false" rot="0">
            <a:off x="1028700" y="2572044"/>
            <a:ext cx="11369780" cy="3264316"/>
          </a:xfrm>
          <a:custGeom>
            <a:avLst/>
            <a:gdLst/>
            <a:ahLst/>
            <a:cxnLst/>
            <a:rect r="r" b="b" t="t" l="l"/>
            <a:pathLst>
              <a:path h="3264316" w="11369780">
                <a:moveTo>
                  <a:pt x="0" y="0"/>
                </a:moveTo>
                <a:lnTo>
                  <a:pt x="11369780" y="0"/>
                </a:lnTo>
                <a:lnTo>
                  <a:pt x="11369780" y="3264316"/>
                </a:lnTo>
                <a:lnTo>
                  <a:pt x="0" y="3264316"/>
                </a:lnTo>
                <a:lnTo>
                  <a:pt x="0" y="0"/>
                </a:lnTo>
                <a:close/>
              </a:path>
            </a:pathLst>
          </a:custGeom>
          <a:blipFill>
            <a:blip r:embed="rId3"/>
            <a:stretch>
              <a:fillRect l="0" t="0" r="0" b="0"/>
            </a:stretch>
          </a:blipFill>
        </p:spPr>
      </p:sp>
      <p:sp>
        <p:nvSpPr>
          <p:cNvPr name="TextBox 7" id="7"/>
          <p:cNvSpPr txBox="true"/>
          <p:nvPr/>
        </p:nvSpPr>
        <p:spPr>
          <a:xfrm rot="0">
            <a:off x="1119247" y="1076995"/>
            <a:ext cx="8024753"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000000"/>
                </a:solidFill>
                <a:latin typeface="ฟ้อนต์ Bold"/>
                <a:ea typeface="ฟ้อนต์ Bold"/>
                <a:cs typeface="ฟ้อนต์ Bold"/>
                <a:sym typeface="ฟ้อนต์ Bold"/>
              </a:rPr>
              <a:t>Hasil Analisis &amp; </a:t>
            </a:r>
          </a:p>
        </p:txBody>
      </p:sp>
      <p:sp>
        <p:nvSpPr>
          <p:cNvPr name="TextBox 8" id="8"/>
          <p:cNvSpPr txBox="true"/>
          <p:nvPr/>
        </p:nvSpPr>
        <p:spPr>
          <a:xfrm rot="0">
            <a:off x="7694851" y="1076995"/>
            <a:ext cx="5712729"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5ED5CA"/>
                </a:solidFill>
                <a:latin typeface="ฟ้อนต์ Bold"/>
                <a:ea typeface="ฟ้อนต์ Bold"/>
                <a:cs typeface="ฟ้อนต์ Bold"/>
                <a:sym typeface="ฟ้อนต์ Bold"/>
              </a:rPr>
              <a:t>Pembahasan</a:t>
            </a:r>
          </a:p>
        </p:txBody>
      </p:sp>
      <p:sp>
        <p:nvSpPr>
          <p:cNvPr name="TextBox 9" id="9"/>
          <p:cNvSpPr txBox="true"/>
          <p:nvPr/>
        </p:nvSpPr>
        <p:spPr>
          <a:xfrm rot="0">
            <a:off x="1119247" y="6616053"/>
            <a:ext cx="17436094" cy="2816225"/>
          </a:xfrm>
          <a:prstGeom prst="rect">
            <a:avLst/>
          </a:prstGeom>
        </p:spPr>
        <p:txBody>
          <a:bodyPr anchor="t" rtlCol="false" tIns="0" lIns="0" bIns="0" rIns="0">
            <a:spAutoFit/>
          </a:bodyPr>
          <a:lstStyle/>
          <a:p>
            <a:pPr algn="just">
              <a:lnSpc>
                <a:spcPts val="4524"/>
              </a:lnSpc>
            </a:pPr>
            <a:r>
              <a:rPr lang="en-US" sz="2499" spc="114">
                <a:solidFill>
                  <a:srgbClr val="000000"/>
                </a:solidFill>
                <a:latin typeface="Canva Sans"/>
                <a:ea typeface="Canva Sans"/>
                <a:cs typeface="Canva Sans"/>
                <a:sym typeface="Canva Sans"/>
              </a:rPr>
              <a:t>Tingkat Keamanan:</a:t>
            </a:r>
          </a:p>
          <a:p>
            <a:pPr algn="just" marL="539749" indent="-269875" lvl="1">
              <a:lnSpc>
                <a:spcPts val="4524"/>
              </a:lnSpc>
              <a:buFont typeface="Arial"/>
              <a:buChar char="•"/>
            </a:pPr>
            <a:r>
              <a:rPr lang="en-US" sz="2499" spc="114">
                <a:solidFill>
                  <a:srgbClr val="000000"/>
                </a:solidFill>
                <a:latin typeface="Canva Sans"/>
                <a:ea typeface="Canva Sans"/>
                <a:cs typeface="Canva Sans"/>
                <a:sym typeface="Canva Sans"/>
              </a:rPr>
              <a:t>MD5: Sangat rentan (Serangan sukses 35%).</a:t>
            </a:r>
          </a:p>
          <a:p>
            <a:pPr algn="just" marL="539749" indent="-269875" lvl="1">
              <a:lnSpc>
                <a:spcPts val="4524"/>
              </a:lnSpc>
              <a:buFont typeface="Arial"/>
              <a:buChar char="•"/>
            </a:pPr>
            <a:r>
              <a:rPr lang="en-US" sz="2499" spc="114">
                <a:solidFill>
                  <a:srgbClr val="000000"/>
                </a:solidFill>
                <a:latin typeface="Canva Sans"/>
                <a:ea typeface="Canva Sans"/>
                <a:cs typeface="Canva Sans"/>
                <a:sym typeface="Canva Sans"/>
              </a:rPr>
              <a:t>SHA-3: Paling aman (Serangan sukses hanya 20%).</a:t>
            </a:r>
          </a:p>
          <a:p>
            <a:pPr algn="just">
              <a:lnSpc>
                <a:spcPts val="4524"/>
              </a:lnSpc>
            </a:pPr>
            <a:r>
              <a:rPr lang="en-US" sz="2499" spc="114">
                <a:solidFill>
                  <a:srgbClr val="000000"/>
                </a:solidFill>
                <a:latin typeface="Canva Sans"/>
                <a:ea typeface="Canva Sans"/>
                <a:cs typeface="Canva Sans"/>
                <a:sym typeface="Canva Sans"/>
              </a:rPr>
              <a:t>Performa: SHA-512 (512,8 ms) adalah yang paling seimbang untuk sistem seperti JWT </a:t>
            </a:r>
            <a:r>
              <a:rPr lang="en-US" b="true" sz="2499" spc="114">
                <a:solidFill>
                  <a:srgbClr val="000000"/>
                </a:solidFill>
                <a:latin typeface="Canva Sans Bold"/>
                <a:ea typeface="Canva Sans Bold"/>
                <a:cs typeface="Canva Sans Bold"/>
                <a:sym typeface="Canva Sans Bold"/>
              </a:rPr>
              <a:t>(Rasyada, 2022).</a:t>
            </a:r>
          </a:p>
          <a:p>
            <a:pPr algn="just">
              <a:lnSpc>
                <a:spcPts val="4524"/>
              </a:lnSpc>
            </a:pPr>
          </a:p>
        </p:txBody>
      </p:sp>
      <p:sp>
        <p:nvSpPr>
          <p:cNvPr name="TextBox 10" id="10"/>
          <p:cNvSpPr txBox="true"/>
          <p:nvPr/>
        </p:nvSpPr>
        <p:spPr>
          <a:xfrm rot="0">
            <a:off x="12650475" y="3052092"/>
            <a:ext cx="4887161" cy="2622644"/>
          </a:xfrm>
          <a:prstGeom prst="rect">
            <a:avLst/>
          </a:prstGeom>
        </p:spPr>
        <p:txBody>
          <a:bodyPr anchor="t" rtlCol="false" tIns="0" lIns="0" bIns="0" rIns="0">
            <a:spAutoFit/>
          </a:bodyPr>
          <a:lstStyle/>
          <a:p>
            <a:pPr algn="just">
              <a:lnSpc>
                <a:spcPts val="2623"/>
              </a:lnSpc>
            </a:pPr>
            <a:r>
              <a:rPr lang="en-US" sz="1873" b="true">
                <a:solidFill>
                  <a:srgbClr val="2C3249"/>
                </a:solidFill>
                <a:latin typeface="Canva Sans Bold"/>
                <a:ea typeface="Canva Sans Bold"/>
                <a:cs typeface="Canva Sans Bold"/>
                <a:sym typeface="Canva Sans Bold"/>
              </a:rPr>
              <a:t>Kecepatan Eksekusi (100.000 data):</a:t>
            </a:r>
          </a:p>
          <a:p>
            <a:pPr algn="just" marL="404583" indent="-202291" lvl="1">
              <a:lnSpc>
                <a:spcPts val="2623"/>
              </a:lnSpc>
              <a:buFont typeface="Arial"/>
              <a:buChar char="•"/>
            </a:pPr>
            <a:r>
              <a:rPr lang="en-US" b="true" sz="1873">
                <a:solidFill>
                  <a:srgbClr val="2C3249"/>
                </a:solidFill>
                <a:latin typeface="Canva Sans Bold"/>
                <a:ea typeface="Canva Sans Bold"/>
                <a:cs typeface="Canva Sans Bold"/>
                <a:sym typeface="Canva Sans Bold"/>
              </a:rPr>
              <a:t>MD5: Tercepat (0.1343 detik), namun berisiko tinggi terhadap serangan Brute Force.</a:t>
            </a:r>
          </a:p>
          <a:p>
            <a:pPr algn="just" marL="404583" indent="-202291" lvl="1">
              <a:lnSpc>
                <a:spcPts val="2623"/>
              </a:lnSpc>
              <a:buFont typeface="Arial"/>
              <a:buChar char="•"/>
            </a:pPr>
            <a:r>
              <a:rPr lang="en-US" b="true" sz="1873">
                <a:solidFill>
                  <a:srgbClr val="2C3249"/>
                </a:solidFill>
                <a:latin typeface="Canva Sans Bold"/>
                <a:ea typeface="Canva Sans Bold"/>
                <a:cs typeface="Canva Sans Bold"/>
                <a:sym typeface="Canva Sans Bold"/>
              </a:rPr>
              <a:t>SHA-512 + Salt: Paling lambat (0.4700 detik), justru memberikan keamanan lebih karena mempersulit komputasi peretas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0" y="-910749"/>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FFFFFF"/>
            </a:solidFill>
          </p:spPr>
        </p:sp>
        <p:sp>
          <p:nvSpPr>
            <p:cNvPr name="TextBox 5" id="5"/>
            <p:cNvSpPr txBox="true"/>
            <p:nvPr/>
          </p:nvSpPr>
          <p:spPr>
            <a:xfrm>
              <a:off x="0" y="-38100"/>
              <a:ext cx="4816593" cy="850900"/>
            </a:xfrm>
            <a:prstGeom prst="rect">
              <a:avLst/>
            </a:prstGeom>
          </p:spPr>
          <p:txBody>
            <a:bodyPr anchor="ctr" rtlCol="false" tIns="50800" lIns="50800" bIns="50800" rIns="50800"/>
            <a:lstStyle/>
            <a:p>
              <a:pPr algn="ctr">
                <a:lnSpc>
                  <a:spcPts val="3091"/>
                </a:lnSpc>
              </a:pPr>
            </a:p>
          </p:txBody>
        </p:sp>
      </p:grpSp>
      <p:grpSp>
        <p:nvGrpSpPr>
          <p:cNvPr name="Group 6" id="6"/>
          <p:cNvGrpSpPr/>
          <p:nvPr/>
        </p:nvGrpSpPr>
        <p:grpSpPr>
          <a:xfrm rot="0">
            <a:off x="0" y="9258300"/>
            <a:ext cx="18288000" cy="1988820"/>
            <a:chOff x="0" y="0"/>
            <a:chExt cx="4816593" cy="523804"/>
          </a:xfrm>
        </p:grpSpPr>
        <p:sp>
          <p:nvSpPr>
            <p:cNvPr name="Freeform 7" id="7"/>
            <p:cNvSpPr/>
            <p:nvPr/>
          </p:nvSpPr>
          <p:spPr>
            <a:xfrm flipH="false" flipV="false" rot="0">
              <a:off x="0" y="0"/>
              <a:ext cx="4816592" cy="523804"/>
            </a:xfrm>
            <a:custGeom>
              <a:avLst/>
              <a:gdLst/>
              <a:ahLst/>
              <a:cxnLst/>
              <a:rect r="r" b="b" t="t" l="l"/>
              <a:pathLst>
                <a:path h="523804" w="4816592">
                  <a:moveTo>
                    <a:pt x="0" y="0"/>
                  </a:moveTo>
                  <a:lnTo>
                    <a:pt x="4816592" y="0"/>
                  </a:lnTo>
                  <a:lnTo>
                    <a:pt x="4816592" y="523804"/>
                  </a:lnTo>
                  <a:lnTo>
                    <a:pt x="0" y="523804"/>
                  </a:lnTo>
                  <a:close/>
                </a:path>
              </a:pathLst>
            </a:custGeom>
            <a:solidFill>
              <a:srgbClr val="FFFFFF"/>
            </a:solidFill>
          </p:spPr>
        </p:sp>
        <p:sp>
          <p:nvSpPr>
            <p:cNvPr name="TextBox 8" id="8"/>
            <p:cNvSpPr txBox="true"/>
            <p:nvPr/>
          </p:nvSpPr>
          <p:spPr>
            <a:xfrm>
              <a:off x="0" y="-38100"/>
              <a:ext cx="4816593" cy="561904"/>
            </a:xfrm>
            <a:prstGeom prst="rect">
              <a:avLst/>
            </a:prstGeom>
          </p:spPr>
          <p:txBody>
            <a:bodyPr anchor="ctr" rtlCol="false" tIns="50800" lIns="50800" bIns="50800" rIns="50800"/>
            <a:lstStyle/>
            <a:p>
              <a:pPr algn="ctr">
                <a:lnSpc>
                  <a:spcPts val="3091"/>
                </a:lnSpc>
              </a:pPr>
            </a:p>
          </p:txBody>
        </p:sp>
      </p:grpSp>
      <p:sp>
        <p:nvSpPr>
          <p:cNvPr name="TextBox 9" id="9"/>
          <p:cNvSpPr txBox="true"/>
          <p:nvPr/>
        </p:nvSpPr>
        <p:spPr>
          <a:xfrm rot="0">
            <a:off x="3669914" y="1104900"/>
            <a:ext cx="10720329" cy="957871"/>
          </a:xfrm>
          <a:prstGeom prst="rect">
            <a:avLst/>
          </a:prstGeom>
        </p:spPr>
        <p:txBody>
          <a:bodyPr anchor="t" rtlCol="false" tIns="0" lIns="0" bIns="0" rIns="0">
            <a:spAutoFit/>
          </a:bodyPr>
          <a:lstStyle/>
          <a:p>
            <a:pPr algn="l" marL="0" indent="0" lvl="0">
              <a:lnSpc>
                <a:spcPts val="7332"/>
              </a:lnSpc>
              <a:spcBef>
                <a:spcPct val="0"/>
              </a:spcBef>
            </a:pPr>
            <a:r>
              <a:rPr lang="en-US" b="true" sz="6727">
                <a:solidFill>
                  <a:srgbClr val="272D45"/>
                </a:solidFill>
                <a:latin typeface="ฟ้อนต์ Bold"/>
                <a:ea typeface="ฟ้อนต์ Bold"/>
                <a:cs typeface="ฟ้อนต์ Bold"/>
                <a:sym typeface="ฟ้อนต์ Bold"/>
              </a:rPr>
              <a:t>Kesimpulan &amp; </a:t>
            </a:r>
          </a:p>
        </p:txBody>
      </p:sp>
      <p:sp>
        <p:nvSpPr>
          <p:cNvPr name="TextBox 10" id="10"/>
          <p:cNvSpPr txBox="true"/>
          <p:nvPr/>
        </p:nvSpPr>
        <p:spPr>
          <a:xfrm rot="0">
            <a:off x="9679002" y="1104900"/>
            <a:ext cx="6266909" cy="957871"/>
          </a:xfrm>
          <a:prstGeom prst="rect">
            <a:avLst/>
          </a:prstGeom>
        </p:spPr>
        <p:txBody>
          <a:bodyPr anchor="t" rtlCol="false" tIns="0" lIns="0" bIns="0" rIns="0">
            <a:spAutoFit/>
          </a:bodyPr>
          <a:lstStyle/>
          <a:p>
            <a:pPr algn="l" marL="0" indent="0" lvl="0">
              <a:lnSpc>
                <a:spcPts val="7332"/>
              </a:lnSpc>
              <a:spcBef>
                <a:spcPct val="0"/>
              </a:spcBef>
            </a:pPr>
            <a:r>
              <a:rPr lang="en-US" b="true" sz="6727">
                <a:solidFill>
                  <a:srgbClr val="5ED5CA"/>
                </a:solidFill>
                <a:latin typeface="ฟ้อนต์ Bold"/>
                <a:ea typeface="ฟ้อนต์ Bold"/>
                <a:cs typeface="ฟ้อนต์ Bold"/>
                <a:sym typeface="ฟ้อนต์ Bold"/>
              </a:rPr>
              <a:t>Rekomendasi</a:t>
            </a:r>
          </a:p>
        </p:txBody>
      </p:sp>
      <p:sp>
        <p:nvSpPr>
          <p:cNvPr name="TextBox 11" id="11"/>
          <p:cNvSpPr txBox="true"/>
          <p:nvPr/>
        </p:nvSpPr>
        <p:spPr>
          <a:xfrm rot="0">
            <a:off x="720106" y="2990814"/>
            <a:ext cx="16847789" cy="4803775"/>
          </a:xfrm>
          <a:prstGeom prst="rect">
            <a:avLst/>
          </a:prstGeom>
        </p:spPr>
        <p:txBody>
          <a:bodyPr anchor="t" rtlCol="false" tIns="0" lIns="0" bIns="0" rIns="0">
            <a:spAutoFit/>
          </a:bodyPr>
          <a:lstStyle/>
          <a:p>
            <a:pPr algn="just">
              <a:lnSpc>
                <a:spcPts val="3499"/>
              </a:lnSpc>
            </a:pPr>
            <a:r>
              <a:rPr lang="en-US" sz="2499" b="true">
                <a:solidFill>
                  <a:srgbClr val="2C3249"/>
                </a:solidFill>
                <a:latin typeface="Garet Bold"/>
                <a:ea typeface="Garet Bold"/>
                <a:cs typeface="Garet Bold"/>
                <a:sym typeface="Garet Bold"/>
              </a:rPr>
              <a:t>Kesimpulan</a:t>
            </a:r>
          </a:p>
          <a:p>
            <a:pPr algn="just" marL="539749" indent="-269875" lvl="1">
              <a:lnSpc>
                <a:spcPts val="3499"/>
              </a:lnSpc>
              <a:buFont typeface="Arial"/>
              <a:buChar char="•"/>
            </a:pPr>
            <a:r>
              <a:rPr lang="en-US" sz="2499">
                <a:solidFill>
                  <a:srgbClr val="2C3249"/>
                </a:solidFill>
                <a:latin typeface="Garet"/>
                <a:ea typeface="Garet"/>
                <a:cs typeface="Garet"/>
                <a:sym typeface="Garet"/>
              </a:rPr>
              <a:t>Algoritma lawas (MD5 dan SHA-1) tidak lagi direkomendasikan untuk sistem keamanan modern karena kerentanannya yang tinggi.</a:t>
            </a:r>
          </a:p>
          <a:p>
            <a:pPr algn="just" marL="539749" indent="-269875" lvl="1">
              <a:lnSpc>
                <a:spcPts val="3499"/>
              </a:lnSpc>
              <a:buFont typeface="Arial"/>
              <a:buChar char="•"/>
            </a:pPr>
            <a:r>
              <a:rPr lang="en-US" sz="2499">
                <a:solidFill>
                  <a:srgbClr val="2C3249"/>
                </a:solidFill>
                <a:latin typeface="Garet"/>
                <a:ea typeface="Garet"/>
                <a:cs typeface="Garet"/>
                <a:sym typeface="Garet"/>
              </a:rPr>
              <a:t>SHA-3 adalah pilihan terbaik untuk prioritas keamanan maksimum, sedangkan SHA-512 memberikan keseimbangan performa terbaik.</a:t>
            </a:r>
          </a:p>
          <a:p>
            <a:pPr algn="just">
              <a:lnSpc>
                <a:spcPts val="3499"/>
              </a:lnSpc>
            </a:pPr>
          </a:p>
          <a:p>
            <a:pPr algn="just">
              <a:lnSpc>
                <a:spcPts val="3499"/>
              </a:lnSpc>
            </a:pPr>
            <a:r>
              <a:rPr lang="en-US" b="true" sz="2499">
                <a:solidFill>
                  <a:srgbClr val="2C3249"/>
                </a:solidFill>
                <a:latin typeface="Garet Bold"/>
                <a:ea typeface="Garet Bold"/>
                <a:cs typeface="Garet Bold"/>
                <a:sym typeface="Garet Bold"/>
              </a:rPr>
              <a:t>Rekomendasi</a:t>
            </a:r>
          </a:p>
          <a:p>
            <a:pPr algn="just" marL="539749" indent="-269875" lvl="1">
              <a:lnSpc>
                <a:spcPts val="3499"/>
              </a:lnSpc>
              <a:buFont typeface="Arial"/>
              <a:buChar char="•"/>
            </a:pPr>
            <a:r>
              <a:rPr lang="en-US" sz="2499">
                <a:solidFill>
                  <a:srgbClr val="2C3249"/>
                </a:solidFill>
                <a:latin typeface="Garet"/>
                <a:ea typeface="Garet"/>
                <a:cs typeface="Garet"/>
                <a:sym typeface="Garet"/>
              </a:rPr>
              <a:t>Implementasi algoritma hash modern (seperti SHA-512 atau SHA-3) yang dikombinasikan dengan Teknik Salting terbukti mampu meningkatkan ketahanan sistem secara signifikan hingga mencapai 97,6%.</a:t>
            </a:r>
          </a:p>
          <a:p>
            <a:pPr algn="just">
              <a:lnSpc>
                <a:spcPts val="349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DAG-P9U7Mv8</dc:identifier>
  <dcterms:modified xsi:type="dcterms:W3CDTF">2011-08-01T06:04:30Z</dcterms:modified>
  <cp:revision>1</cp:revision>
  <dc:title>KELOMPOK ALGORITMA SHA</dc:title>
</cp:coreProperties>
</file>